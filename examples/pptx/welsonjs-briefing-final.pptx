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594A91-A1AD-8416-D5E5-D8BFDFE89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0CC551-984D-381D-10BB-78028D26B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1861D5-70EC-455F-FA97-D9952976D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F664-955B-45EF-9161-497C555923A3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563652-2DC3-A442-B2CF-A5951DA31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548F8A-4E76-4FA4-AD3C-4A8D0784C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CE17-30AD-4825-B45D-C616B0E4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550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284CB-A205-3966-3DC4-2A68BC030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5741BD-3BF0-3669-24B4-F870A7663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8B669F-E387-8B21-4CB6-4D832920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F664-955B-45EF-9161-497C555923A3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953817-4F11-E1BB-60FC-381072184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2885C9-73EA-8857-6C98-9BA04B372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CE17-30AD-4825-B45D-C616B0E4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522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1A0F8-1E56-8C5B-C9EE-ACBDB6F99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968B76-CEFC-EA01-C576-2A3700DC1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C72FC6-F69D-F857-7CEF-C775070D0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F664-955B-45EF-9161-497C555923A3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042D37-351D-7905-7BD5-B26AE31E4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E20B08-C168-6D8C-AE07-C5EE61026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CE17-30AD-4825-B45D-C616B0E4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877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146047-6ED9-4315-69BE-F008E0603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A61072-5DE7-1182-8CBA-27DEFB85C1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397C18-92EE-44E8-C6F2-F54E74532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CBBE43-EA47-807D-A0BB-2263D6FD6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F664-955B-45EF-9161-497C555923A3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AE9806-08E6-BF00-00C9-8A59C8C0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634F6F-03EC-6A86-82B5-D9CEA7DBA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CE17-30AD-4825-B45D-C616B0E4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355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18AAAC-6663-9CB7-F3F9-0459095AD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AD3D61-DB77-2616-FF0D-960044C0A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53DFAA-8A3C-FA4F-D5BC-33B323D87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E3F7074-DB6F-2D57-5B69-BBEFF8A2B5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2D314A-C430-A8AF-FEBF-7B52363341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DAFF73E-ECAA-F3E8-C6EB-8FC836BAE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F664-955B-45EF-9161-497C555923A3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B237BF-0C7A-C4DC-D7B0-926DDDB27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4A14FA-80C0-0D66-EB6A-8F2C205E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CE17-30AD-4825-B45D-C616B0E4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15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A9EFB4-08BD-4AC5-0DA3-17476FFED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A778E8E-C725-0534-EF4D-D149C2E8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F664-955B-45EF-9161-497C555923A3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7DEB70-A934-F241-956A-976B49985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38E881-4016-425E-DF46-6F1C463D8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CE17-30AD-4825-B45D-C616B0E4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76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D9E3BBC-CC67-A528-44A3-D6181CF6D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F664-955B-45EF-9161-497C555923A3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88D411-8B21-7E6C-9A52-89DCA308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47DF7C-2A42-4386-084C-6B542137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CE17-30AD-4825-B45D-C616B0E4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444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6DA50-BF3B-268D-96B7-0129D9276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CDC530-AE48-F65C-43EC-51652E971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614577-004E-86B9-4677-1A3B3B162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D2697B-A09C-D317-E2DF-E6BA4B7CD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F664-955B-45EF-9161-497C555923A3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95D9F8-DD42-1B0D-6F01-1C5FB13AB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A28B85-758C-573F-E841-92E9BB18A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CE17-30AD-4825-B45D-C616B0E4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777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40109C-52E2-ED66-BA6D-3AA4DB17E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AC64B68-19E6-F943-77C2-C32B5BBFEE9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1C746B-7C84-EEA8-6C90-1B3706FE3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133D81-74D7-A77C-7137-E471DBBA8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F664-955B-45EF-9161-497C555923A3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5E8AED-37D4-85CB-A00B-D60AE6D6E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4DE547-8CB2-992D-0C5B-A8FD0BC2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CE17-30AD-4825-B45D-C616B0E4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57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3AE86-69B2-EEB8-E964-6C7E90EB2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026544-BD87-3732-D2F1-80A074AC5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C82253-8E03-78D8-CBE8-CB140752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F664-955B-45EF-9161-497C555923A3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970676-9016-ACBF-57BE-828756CF9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8CEEC2-CE8C-8EA8-F4AF-970F8830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CE17-30AD-4825-B45D-C616B0E4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804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AC1F74-C312-9075-2303-B7B796A8D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8E1490-A983-AF9F-DB38-485C62C70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ADD479-1277-1EE1-89D0-CC23A93B6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F664-955B-45EF-9161-497C555923A3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73F1DB-C624-32B2-0ECD-0FFD3C8B3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0FBA2D-F50C-B481-66A8-790A9FA70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CE17-30AD-4825-B45D-C616B0E4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42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666F05-4251-5C5B-F2A3-8BE967A50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B06C8D-5BC4-BC0C-5D03-B16E77E04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DDF0A0-A524-FE46-A89C-211EF8C333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AF664-955B-45EF-9161-497C555923A3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D7BB48-7ECB-90E2-F808-405B6F94F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EBC5F0-7177-5F45-A121-BFCC5039B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1CE17-30AD-4825-B45D-C616B0E4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49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EAC82022-3145-BBAE-4A56-8E7593B630E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698500"/>
            <a:ext cx="2667000" cy="18415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39BE083-65CB-8518-C6F6-78A19FB9E3CF}"/>
              </a:ext>
            </a:extLst>
          </p:cNvPr>
          <p:cNvSpPr/>
          <p:nvPr/>
        </p:nvSpPr>
        <p:spPr>
          <a:xfrm>
            <a:off x="698500" y="2984500"/>
            <a:ext cx="88900" cy="21590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34D95B-D145-216D-3829-07F2CA893673}"/>
              </a:ext>
            </a:extLst>
          </p:cNvPr>
          <p:cNvSpPr txBox="1"/>
          <p:nvPr/>
        </p:nvSpPr>
        <p:spPr>
          <a:xfrm>
            <a:off x="1117600" y="2984500"/>
            <a:ext cx="6604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4200" b="1">
                <a:solidFill>
                  <a:srgbClr val="FFFFFF"/>
                </a:solidFill>
                <a:latin typeface="Aptos Display" panose="020B0004020202020204" pitchFamily="34" charset="0"/>
              </a:rPr>
              <a:t>WelsonJS</a:t>
            </a:r>
            <a:endParaRPr lang="ko-KR" altLang="en-US" sz="42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3CC62D-7F5F-E6E1-6265-B08478104531}"/>
              </a:ext>
            </a:extLst>
          </p:cNvPr>
          <p:cNvSpPr txBox="1"/>
          <p:nvPr/>
        </p:nvSpPr>
        <p:spPr>
          <a:xfrm>
            <a:off x="1117600" y="3937000"/>
            <a:ext cx="6858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100">
                <a:solidFill>
                  <a:srgbClr val="EBEEF0"/>
                </a:solidFill>
                <a:latin typeface="Aptos" panose="020B0004020202020204" pitchFamily="34" charset="0"/>
              </a:rPr>
              <a:t>Windows </a:t>
            </a:r>
            <a:r>
              <a:rPr lang="ko-KR" altLang="en-US" sz="2100">
                <a:solidFill>
                  <a:srgbClr val="EBEEF0"/>
                </a:solidFill>
                <a:latin typeface="Aptos" panose="020B0004020202020204" pitchFamily="34" charset="0"/>
              </a:rPr>
              <a:t>자동화와 산업용
</a:t>
            </a:r>
            <a:r>
              <a:rPr lang="en-US" altLang="ko-KR" sz="2100">
                <a:solidFill>
                  <a:srgbClr val="EBEEF0"/>
                </a:solidFill>
                <a:latin typeface="Aptos" panose="020B0004020202020204" pitchFamily="34" charset="0"/>
              </a:rPr>
              <a:t>JavaScript </a:t>
            </a:r>
            <a:r>
              <a:rPr lang="ko-KR" altLang="en-US" sz="2100">
                <a:solidFill>
                  <a:srgbClr val="EBEEF0"/>
                </a:solidFill>
                <a:latin typeface="Aptos" panose="020B0004020202020204" pitchFamily="34" charset="0"/>
              </a:rPr>
              <a:t>실행 프레임워크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05C18-FD26-02C5-B263-13F9BF1F2755}"/>
              </a:ext>
            </a:extLst>
          </p:cNvPr>
          <p:cNvSpPr txBox="1"/>
          <p:nvPr/>
        </p:nvSpPr>
        <p:spPr>
          <a:xfrm>
            <a:off x="1117600" y="5207000"/>
            <a:ext cx="635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400" b="1">
                <a:solidFill>
                  <a:srgbClr val="4B6F6B"/>
                </a:solidFill>
                <a:latin typeface="Aptos" panose="020B0004020202020204" pitchFamily="34" charset="0"/>
              </a:rPr>
              <a:t>기능 </a:t>
            </a:r>
            <a:r>
              <a:rPr lang="en-US" altLang="ko-KR" sz="1400" b="1">
                <a:solidFill>
                  <a:srgbClr val="4B6F6B"/>
                </a:solidFill>
                <a:latin typeface="Aptos" panose="020B0004020202020204" pitchFamily="34" charset="0"/>
              </a:rPr>
              <a:t>· </a:t>
            </a:r>
            <a:r>
              <a:rPr lang="ko-KR" altLang="en-US" sz="1400" b="1">
                <a:solidFill>
                  <a:srgbClr val="4B6F6B"/>
                </a:solidFill>
                <a:latin typeface="Aptos" panose="020B0004020202020204" pitchFamily="34" charset="0"/>
              </a:rPr>
              <a:t>구조 </a:t>
            </a:r>
            <a:r>
              <a:rPr lang="en-US" altLang="ko-KR" sz="1400" b="1">
                <a:solidFill>
                  <a:srgbClr val="4B6F6B"/>
                </a:solidFill>
                <a:latin typeface="Aptos" panose="020B0004020202020204" pitchFamily="34" charset="0"/>
              </a:rPr>
              <a:t>· </a:t>
            </a:r>
            <a:r>
              <a:rPr lang="ko-KR" altLang="en-US" sz="1400" b="1">
                <a:solidFill>
                  <a:srgbClr val="4B6F6B"/>
                </a:solidFill>
                <a:latin typeface="Aptos" panose="020B0004020202020204" pitchFamily="34" charset="0"/>
              </a:rPr>
              <a:t>활용 방법</a:t>
            </a:r>
          </a:p>
        </p:txBody>
      </p:sp>
    </p:spTree>
    <p:extLst>
      <p:ext uri="{BB962C8B-B14F-4D97-AF65-F5344CB8AC3E}">
        <p14:creationId xmlns:p14="http://schemas.microsoft.com/office/powerpoint/2010/main" val="935024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BB1DFD-894F-A42C-952B-0B3DB19F2481}"/>
              </a:ext>
            </a:extLst>
          </p:cNvPr>
          <p:cNvSpPr txBox="1"/>
          <p:nvPr/>
        </p:nvSpPr>
        <p:spPr>
          <a:xfrm>
            <a:off x="533400" y="3048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6B7280"/>
                </a:solidFill>
                <a:latin typeface="Aptos" panose="020B0004020202020204" pitchFamily="34" charset="0"/>
              </a:rPr>
              <a:t>01 / Positioning</a:t>
            </a:r>
            <a:endParaRPr lang="ko-KR" altLang="en-US" sz="11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A0A5A-7609-C3A0-33E4-EADC4BF4F6BF}"/>
              </a:ext>
            </a:extLst>
          </p:cNvPr>
          <p:cNvSpPr txBox="1"/>
          <p:nvPr/>
        </p:nvSpPr>
        <p:spPr>
          <a:xfrm>
            <a:off x="533400" y="660400"/>
            <a:ext cx="8001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700" b="1">
                <a:solidFill>
                  <a:srgbClr val="1F2937"/>
                </a:solidFill>
                <a:latin typeface="Aptos" panose="020B0004020202020204" pitchFamily="34" charset="0"/>
              </a:rPr>
              <a:t>WelsonJS</a:t>
            </a:r>
            <a:r>
              <a:rPr lang="ko-KR" altLang="en-US" sz="2700" b="1">
                <a:solidFill>
                  <a:srgbClr val="1F2937"/>
                </a:solidFill>
                <a:latin typeface="Aptos" panose="020B0004020202020204" pitchFamily="34" charset="0"/>
              </a:rPr>
              <a:t>는 무엇인가</a:t>
            </a:r>
            <a:r>
              <a:rPr lang="en-US" altLang="ko-KR" sz="2700" b="1">
                <a:solidFill>
                  <a:srgbClr val="1F2937"/>
                </a:solidFill>
                <a:latin typeface="Aptos" panose="020B0004020202020204" pitchFamily="34" charset="0"/>
              </a:rPr>
              <a:t>?</a:t>
            </a:r>
            <a:endParaRPr lang="ko-KR" altLang="en-US" sz="27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BA697FA-4C44-D8AF-D8F8-FE6D64F27FCE}"/>
              </a:ext>
            </a:extLst>
          </p:cNvPr>
          <p:cNvSpPr/>
          <p:nvPr/>
        </p:nvSpPr>
        <p:spPr>
          <a:xfrm>
            <a:off x="533400" y="1371600"/>
            <a:ext cx="8077200" cy="381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AE2C7-32EC-54DA-C4A1-E8A88554313F}"/>
              </a:ext>
            </a:extLst>
          </p:cNvPr>
          <p:cNvSpPr txBox="1"/>
          <p:nvPr/>
        </p:nvSpPr>
        <p:spPr>
          <a:xfrm>
            <a:off x="533400" y="64135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B7280"/>
                </a:solidFill>
                <a:latin typeface="Aptos" panose="020B0004020202020204" pitchFamily="34" charset="0"/>
              </a:rPr>
              <a:t>WelsonJS</a:t>
            </a:r>
            <a:endParaRPr lang="ko-KR" altLang="en-US" sz="9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B126F3-CDFD-E3D8-B642-C53ED264600D}"/>
              </a:ext>
            </a:extLst>
          </p:cNvPr>
          <p:cNvSpPr txBox="1"/>
          <p:nvPr/>
        </p:nvSpPr>
        <p:spPr>
          <a:xfrm>
            <a:off x="8382000" y="64135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B7280"/>
                </a:solidFill>
                <a:latin typeface="Aptos" panose="020B0004020202020204" pitchFamily="34" charset="0"/>
              </a:rPr>
              <a:t>2</a:t>
            </a:r>
            <a:endParaRPr lang="ko-KR" altLang="en-US" sz="9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0D9881-5841-8A4F-E7BF-D87CC9F9F10F}"/>
              </a:ext>
            </a:extLst>
          </p:cNvPr>
          <p:cNvSpPr txBox="1"/>
          <p:nvPr/>
        </p:nvSpPr>
        <p:spPr>
          <a:xfrm>
            <a:off x="698500" y="1905000"/>
            <a:ext cx="7747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b="1">
                <a:solidFill>
                  <a:srgbClr val="1F2937"/>
                </a:solidFill>
                <a:latin typeface="Aptos" panose="020B0004020202020204" pitchFamily="34" charset="0"/>
              </a:rPr>
              <a:t>Windows </a:t>
            </a:r>
            <a:r>
              <a:rPr lang="ko-KR" altLang="en-US" b="1">
                <a:solidFill>
                  <a:srgbClr val="1F2937"/>
                </a:solidFill>
                <a:latin typeface="Aptos" panose="020B0004020202020204" pitchFamily="34" charset="0"/>
              </a:rPr>
              <a:t>환경에서 실제 시스템과 애플리케이션을 연결하는 </a:t>
            </a:r>
            <a:r>
              <a:rPr lang="en-US" altLang="ko-KR" b="1">
                <a:solidFill>
                  <a:srgbClr val="1F2937"/>
                </a:solidFill>
                <a:latin typeface="Aptos" panose="020B0004020202020204" pitchFamily="34" charset="0"/>
              </a:rPr>
              <a:t>JavaScript </a:t>
            </a:r>
            <a:r>
              <a:rPr lang="ko-KR" altLang="en-US" b="1">
                <a:solidFill>
                  <a:srgbClr val="1F2937"/>
                </a:solidFill>
                <a:latin typeface="Aptos" panose="020B0004020202020204" pitchFamily="34" charset="0"/>
              </a:rPr>
              <a:t>프레임워크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6824921-FD8A-E10E-4CF0-DFF86A152BAC}"/>
              </a:ext>
            </a:extLst>
          </p:cNvPr>
          <p:cNvSpPr/>
          <p:nvPr/>
        </p:nvSpPr>
        <p:spPr>
          <a:xfrm>
            <a:off x="533400" y="3302000"/>
            <a:ext cx="2413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4A9913-17B6-DE5A-F809-E2658A5E1BE1}"/>
              </a:ext>
            </a:extLst>
          </p:cNvPr>
          <p:cNvSpPr/>
          <p:nvPr/>
        </p:nvSpPr>
        <p:spPr>
          <a:xfrm>
            <a:off x="533400" y="3302000"/>
            <a:ext cx="63500" cy="1587500"/>
          </a:xfrm>
          <a:prstGeom prst="rect">
            <a:avLst/>
          </a:prstGeom>
          <a:solidFill>
            <a:srgbClr val="9D5B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D71A33-0761-72CD-3579-B1661FEAECF0}"/>
              </a:ext>
            </a:extLst>
          </p:cNvPr>
          <p:cNvSpPr txBox="1"/>
          <p:nvPr/>
        </p:nvSpPr>
        <p:spPr>
          <a:xfrm>
            <a:off x="762000" y="3479800"/>
            <a:ext cx="203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 b="1">
                <a:solidFill>
                  <a:srgbClr val="1F2937"/>
                </a:solidFill>
                <a:latin typeface="Aptos" panose="020B0004020202020204" pitchFamily="34" charset="0"/>
              </a:rPr>
              <a:t>가벼운 실행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03550D-F9A5-15EA-361B-7170E18A81C1}"/>
              </a:ext>
            </a:extLst>
          </p:cNvPr>
          <p:cNvSpPr txBox="1"/>
          <p:nvPr/>
        </p:nvSpPr>
        <p:spPr>
          <a:xfrm>
            <a:off x="762000" y="3873500"/>
            <a:ext cx="203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WSH JScript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기반의 낮은 오버헤드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785839F-8A55-BF1B-7FD3-A05516839321}"/>
              </a:ext>
            </a:extLst>
          </p:cNvPr>
          <p:cNvSpPr/>
          <p:nvPr/>
        </p:nvSpPr>
        <p:spPr>
          <a:xfrm>
            <a:off x="3263900" y="3302000"/>
            <a:ext cx="2413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676E1B-60AB-3CDF-7E14-3EFFE552574A}"/>
              </a:ext>
            </a:extLst>
          </p:cNvPr>
          <p:cNvSpPr/>
          <p:nvPr/>
        </p:nvSpPr>
        <p:spPr>
          <a:xfrm>
            <a:off x="3263900" y="3302000"/>
            <a:ext cx="63500" cy="15875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414884-8D3E-96A8-5E53-61B3EE2298BB}"/>
              </a:ext>
            </a:extLst>
          </p:cNvPr>
          <p:cNvSpPr txBox="1"/>
          <p:nvPr/>
        </p:nvSpPr>
        <p:spPr>
          <a:xfrm>
            <a:off x="3492500" y="3479800"/>
            <a:ext cx="203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 b="1">
                <a:solidFill>
                  <a:srgbClr val="1F2937"/>
                </a:solidFill>
                <a:latin typeface="Aptos" panose="020B0004020202020204" pitchFamily="34" charset="0"/>
              </a:rPr>
              <a:t>실제 자원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432098-63F4-2003-ED37-E3E680B4DFA6}"/>
              </a:ext>
            </a:extLst>
          </p:cNvPr>
          <p:cNvSpPr txBox="1"/>
          <p:nvPr/>
        </p:nvSpPr>
        <p:spPr>
          <a:xfrm>
            <a:off x="3492500" y="3873500"/>
            <a:ext cx="203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COM / Windows API / Managed .NET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접근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F1F9271-349D-BF1D-2C97-972F33D15777}"/>
              </a:ext>
            </a:extLst>
          </p:cNvPr>
          <p:cNvSpPr/>
          <p:nvPr/>
        </p:nvSpPr>
        <p:spPr>
          <a:xfrm>
            <a:off x="5994400" y="3302000"/>
            <a:ext cx="2413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B52AD1E-DEA9-7242-78CC-DCD3B2ED3E62}"/>
              </a:ext>
            </a:extLst>
          </p:cNvPr>
          <p:cNvSpPr/>
          <p:nvPr/>
        </p:nvSpPr>
        <p:spPr>
          <a:xfrm>
            <a:off x="5994400" y="3302000"/>
            <a:ext cx="63500" cy="15875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C694D7-BA0C-1EC8-946B-1DB88A82A840}"/>
              </a:ext>
            </a:extLst>
          </p:cNvPr>
          <p:cNvSpPr txBox="1"/>
          <p:nvPr/>
        </p:nvSpPr>
        <p:spPr>
          <a:xfrm>
            <a:off x="6223000" y="3479800"/>
            <a:ext cx="203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 b="1">
                <a:solidFill>
                  <a:srgbClr val="1F2937"/>
                </a:solidFill>
                <a:latin typeface="Aptos" panose="020B0004020202020204" pitchFamily="34" charset="0"/>
              </a:rPr>
              <a:t>통합 자동화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AABA2A-389B-69C2-68C3-677C38CD9116}"/>
              </a:ext>
            </a:extLst>
          </p:cNvPr>
          <p:cNvSpPr txBox="1"/>
          <p:nvPr/>
        </p:nvSpPr>
        <p:spPr>
          <a:xfrm>
            <a:off x="6223000" y="3873500"/>
            <a:ext cx="203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Office 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파일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네트워크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AI</a:t>
            </a:r>
            <a:endParaRPr lang="ko-KR" altLang="en-US" sz="120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268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FB04DC-1AF7-EF98-B434-E3E8FB057DA7}"/>
              </a:ext>
            </a:extLst>
          </p:cNvPr>
          <p:cNvSpPr txBox="1"/>
          <p:nvPr/>
        </p:nvSpPr>
        <p:spPr>
          <a:xfrm>
            <a:off x="533400" y="3048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6B7280"/>
                </a:solidFill>
                <a:latin typeface="Aptos" panose="020B0004020202020204" pitchFamily="34" charset="0"/>
              </a:rPr>
              <a:t>02 / Architecture</a:t>
            </a:r>
            <a:endParaRPr lang="ko-KR" altLang="en-US" sz="11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9E3732-02F2-B772-84B2-8A879B616C87}"/>
              </a:ext>
            </a:extLst>
          </p:cNvPr>
          <p:cNvSpPr txBox="1"/>
          <p:nvPr/>
        </p:nvSpPr>
        <p:spPr>
          <a:xfrm>
            <a:off x="533400" y="660400"/>
            <a:ext cx="8001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700" b="1">
                <a:solidFill>
                  <a:srgbClr val="1F2937"/>
                </a:solidFill>
                <a:latin typeface="Aptos" panose="020B0004020202020204" pitchFamily="34" charset="0"/>
              </a:rPr>
              <a:t>실행 구조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98A61D-D603-7A80-D869-2D941926BD15}"/>
              </a:ext>
            </a:extLst>
          </p:cNvPr>
          <p:cNvSpPr/>
          <p:nvPr/>
        </p:nvSpPr>
        <p:spPr>
          <a:xfrm>
            <a:off x="533400" y="1371600"/>
            <a:ext cx="8077200" cy="381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BE9CF-C4AF-8566-4E92-43748C69DC8C}"/>
              </a:ext>
            </a:extLst>
          </p:cNvPr>
          <p:cNvSpPr txBox="1"/>
          <p:nvPr/>
        </p:nvSpPr>
        <p:spPr>
          <a:xfrm>
            <a:off x="533400" y="64135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B7280"/>
                </a:solidFill>
                <a:latin typeface="Aptos" panose="020B0004020202020204" pitchFamily="34" charset="0"/>
              </a:rPr>
              <a:t>WelsonJS</a:t>
            </a:r>
            <a:endParaRPr lang="ko-KR" altLang="en-US" sz="9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F4BD35-F670-6946-BC3C-54B5BD0AF43C}"/>
              </a:ext>
            </a:extLst>
          </p:cNvPr>
          <p:cNvSpPr txBox="1"/>
          <p:nvPr/>
        </p:nvSpPr>
        <p:spPr>
          <a:xfrm>
            <a:off x="8382000" y="64135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B7280"/>
                </a:solidFill>
                <a:latin typeface="Aptos" panose="020B0004020202020204" pitchFamily="34" charset="0"/>
              </a:rPr>
              <a:t>3</a:t>
            </a:r>
            <a:endParaRPr lang="ko-KR" altLang="en-US" sz="9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42441-45BE-9BF3-058C-2C336E15D026}"/>
              </a:ext>
            </a:extLst>
          </p:cNvPr>
          <p:cNvSpPr txBox="1"/>
          <p:nvPr/>
        </p:nvSpPr>
        <p:spPr>
          <a:xfrm>
            <a:off x="698500" y="1968500"/>
            <a:ext cx="2286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b="1">
                <a:solidFill>
                  <a:srgbClr val="1F2937"/>
                </a:solidFill>
                <a:latin typeface="Aptos" panose="020B0004020202020204" pitchFamily="34" charset="0"/>
              </a:rPr>
              <a:t>사용자 스크립트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BAEEEC-7BBE-5711-2BA5-9AA9265C1DAE}"/>
              </a:ext>
            </a:extLst>
          </p:cNvPr>
          <p:cNvSpPr txBox="1"/>
          <p:nvPr/>
        </p:nvSpPr>
        <p:spPr>
          <a:xfrm>
            <a:off x="3492500" y="1968500"/>
            <a:ext cx="152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b="1">
                <a:solidFill>
                  <a:srgbClr val="1F2937"/>
                </a:solidFill>
                <a:latin typeface="Aptos" panose="020B0004020202020204" pitchFamily="34" charset="0"/>
              </a:rPr>
              <a:t>app.js</a:t>
            </a:r>
            <a:endParaRPr lang="ko-KR" altLang="en-US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30FA43-6C40-A2C6-5B08-127778F51FE7}"/>
              </a:ext>
            </a:extLst>
          </p:cNvPr>
          <p:cNvSpPr txBox="1"/>
          <p:nvPr/>
        </p:nvSpPr>
        <p:spPr>
          <a:xfrm>
            <a:off x="6286500" y="1968500"/>
            <a:ext cx="152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b="1">
                <a:solidFill>
                  <a:srgbClr val="1F2937"/>
                </a:solidFill>
                <a:latin typeface="Aptos" panose="020B0004020202020204" pitchFamily="34" charset="0"/>
              </a:rPr>
              <a:t>lib/*</a:t>
            </a:r>
            <a:endParaRPr lang="ko-KR" altLang="en-US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98EE648-4B63-6B7B-0F0A-97CCF7C9A0F0}"/>
              </a:ext>
            </a:extLst>
          </p:cNvPr>
          <p:cNvSpPr/>
          <p:nvPr/>
        </p:nvSpPr>
        <p:spPr>
          <a:xfrm>
            <a:off x="2667000" y="2222500"/>
            <a:ext cx="698500" cy="508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8B6E55-FA95-AACA-AF39-E3DA69E818C8}"/>
              </a:ext>
            </a:extLst>
          </p:cNvPr>
          <p:cNvSpPr/>
          <p:nvPr/>
        </p:nvSpPr>
        <p:spPr>
          <a:xfrm>
            <a:off x="5461000" y="2222500"/>
            <a:ext cx="698500" cy="508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44A8D02-E633-285A-4E24-8198F99A4644}"/>
              </a:ext>
            </a:extLst>
          </p:cNvPr>
          <p:cNvSpPr/>
          <p:nvPr/>
        </p:nvSpPr>
        <p:spPr>
          <a:xfrm>
            <a:off x="533400" y="3365500"/>
            <a:ext cx="3810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DF1FCE-EEA6-41B8-6EAA-D74D3310EBD7}"/>
              </a:ext>
            </a:extLst>
          </p:cNvPr>
          <p:cNvSpPr/>
          <p:nvPr/>
        </p:nvSpPr>
        <p:spPr>
          <a:xfrm>
            <a:off x="533400" y="3365500"/>
            <a:ext cx="63500" cy="1587500"/>
          </a:xfrm>
          <a:prstGeom prst="rect">
            <a:avLst/>
          </a:prstGeom>
          <a:solidFill>
            <a:srgbClr val="9D5B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2FF21F-C24A-9FCF-11B7-1B5F74E110EB}"/>
              </a:ext>
            </a:extLst>
          </p:cNvPr>
          <p:cNvSpPr txBox="1"/>
          <p:nvPr/>
        </p:nvSpPr>
        <p:spPr>
          <a:xfrm>
            <a:off x="762000" y="35433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 b="1">
                <a:solidFill>
                  <a:srgbClr val="1F2937"/>
                </a:solidFill>
                <a:latin typeface="Aptos" panose="020B0004020202020204" pitchFamily="34" charset="0"/>
              </a:rPr>
              <a:t>호스트 접근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FEF394-FBAC-5A04-D3FA-25A9D88B9CE2}"/>
              </a:ext>
            </a:extLst>
          </p:cNvPr>
          <p:cNvSpPr txBox="1"/>
          <p:nvPr/>
        </p:nvSpPr>
        <p:spPr>
          <a:xfrm>
            <a:off x="762000" y="3937000"/>
            <a:ext cx="342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WSH / COM / Windows API 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외부 프로그램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7A00ECC-4055-087B-D72C-B82D1260EEA8}"/>
              </a:ext>
            </a:extLst>
          </p:cNvPr>
          <p:cNvSpPr/>
          <p:nvPr/>
        </p:nvSpPr>
        <p:spPr>
          <a:xfrm>
            <a:off x="4800600" y="3365500"/>
            <a:ext cx="3810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75547E0-832E-6C6E-C34F-0234043CAB08}"/>
              </a:ext>
            </a:extLst>
          </p:cNvPr>
          <p:cNvSpPr/>
          <p:nvPr/>
        </p:nvSpPr>
        <p:spPr>
          <a:xfrm>
            <a:off x="4800600" y="3365500"/>
            <a:ext cx="63500" cy="15875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FB8BFB-1482-C623-DCB5-AAFC62E2FCB9}"/>
              </a:ext>
            </a:extLst>
          </p:cNvPr>
          <p:cNvSpPr txBox="1"/>
          <p:nvPr/>
        </p:nvSpPr>
        <p:spPr>
          <a:xfrm>
            <a:off x="5029200" y="35433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 b="1">
                <a:solidFill>
                  <a:srgbClr val="1F2937"/>
                </a:solidFill>
                <a:latin typeface="Aptos" panose="020B0004020202020204" pitchFamily="34" charset="0"/>
              </a:rPr>
              <a:t>관리 및 배포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921B29-37BD-11E5-1D6C-55EF4CEE94DB}"/>
              </a:ext>
            </a:extLst>
          </p:cNvPr>
          <p:cNvSpPr txBox="1"/>
          <p:nvPr/>
        </p:nvSpPr>
        <p:spPr>
          <a:xfrm>
            <a:off x="5029200" y="3937000"/>
            <a:ext cx="342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Launcher / JCTG / Windows Service / ZIP</a:t>
            </a:r>
            <a:endParaRPr lang="ko-KR" altLang="en-US" sz="120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783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439138-6BC6-7CA5-E180-884FD7F171F8}"/>
              </a:ext>
            </a:extLst>
          </p:cNvPr>
          <p:cNvSpPr txBox="1"/>
          <p:nvPr/>
        </p:nvSpPr>
        <p:spPr>
          <a:xfrm>
            <a:off x="533400" y="3048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6B7280"/>
                </a:solidFill>
                <a:latin typeface="Aptos" panose="020B0004020202020204" pitchFamily="34" charset="0"/>
              </a:rPr>
              <a:t>03 / Modules</a:t>
            </a:r>
            <a:endParaRPr lang="ko-KR" altLang="en-US" sz="11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B043C6-CFB7-FF88-3ECF-E08C22F1A166}"/>
              </a:ext>
            </a:extLst>
          </p:cNvPr>
          <p:cNvSpPr txBox="1"/>
          <p:nvPr/>
        </p:nvSpPr>
        <p:spPr>
          <a:xfrm>
            <a:off x="533400" y="660400"/>
            <a:ext cx="8001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700" b="1">
                <a:solidFill>
                  <a:srgbClr val="1F2937"/>
                </a:solidFill>
                <a:latin typeface="Aptos" panose="020B0004020202020204" pitchFamily="34" charset="0"/>
              </a:rPr>
              <a:t>기능 모듈 지도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2320AC-47E7-EC25-9A49-4449C2BD4E2A}"/>
              </a:ext>
            </a:extLst>
          </p:cNvPr>
          <p:cNvSpPr/>
          <p:nvPr/>
        </p:nvSpPr>
        <p:spPr>
          <a:xfrm>
            <a:off x="533400" y="1371600"/>
            <a:ext cx="8077200" cy="381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8A0C99-0671-FF57-378F-83BAD60062DD}"/>
              </a:ext>
            </a:extLst>
          </p:cNvPr>
          <p:cNvSpPr txBox="1"/>
          <p:nvPr/>
        </p:nvSpPr>
        <p:spPr>
          <a:xfrm>
            <a:off x="533400" y="64135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B7280"/>
                </a:solidFill>
                <a:latin typeface="Aptos" panose="020B0004020202020204" pitchFamily="34" charset="0"/>
              </a:rPr>
              <a:t>WelsonJS</a:t>
            </a:r>
            <a:endParaRPr lang="ko-KR" altLang="en-US" sz="9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A6B6C-7DC3-F20D-F59B-3B82946D1BAB}"/>
              </a:ext>
            </a:extLst>
          </p:cNvPr>
          <p:cNvSpPr txBox="1"/>
          <p:nvPr/>
        </p:nvSpPr>
        <p:spPr>
          <a:xfrm>
            <a:off x="8382000" y="64135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B7280"/>
                </a:solidFill>
                <a:latin typeface="Aptos" panose="020B0004020202020204" pitchFamily="34" charset="0"/>
              </a:rPr>
              <a:t>4</a:t>
            </a:r>
            <a:endParaRPr lang="ko-KR" altLang="en-US" sz="9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62B4A18-6C2E-7C5A-E64F-D800E97E39F8}"/>
              </a:ext>
            </a:extLst>
          </p:cNvPr>
          <p:cNvSpPr/>
          <p:nvPr/>
        </p:nvSpPr>
        <p:spPr>
          <a:xfrm>
            <a:off x="533400" y="1778000"/>
            <a:ext cx="38100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C559F3-A2F0-2758-7326-51047032D246}"/>
              </a:ext>
            </a:extLst>
          </p:cNvPr>
          <p:cNvSpPr/>
          <p:nvPr/>
        </p:nvSpPr>
        <p:spPr>
          <a:xfrm>
            <a:off x="533400" y="1778000"/>
            <a:ext cx="63500" cy="1270000"/>
          </a:xfrm>
          <a:prstGeom prst="rect">
            <a:avLst/>
          </a:prstGeom>
          <a:solidFill>
            <a:srgbClr val="9D5B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556ED-0855-D03C-0694-00D59922A785}"/>
              </a:ext>
            </a:extLst>
          </p:cNvPr>
          <p:cNvSpPr txBox="1"/>
          <p:nvPr/>
        </p:nvSpPr>
        <p:spPr>
          <a:xfrm>
            <a:off x="762000" y="19558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 b="1">
                <a:solidFill>
                  <a:srgbClr val="1F2937"/>
                </a:solidFill>
                <a:latin typeface="Aptos" panose="020B0004020202020204" pitchFamily="34" charset="0"/>
              </a:rPr>
              <a:t>Runtime &amp; data</a:t>
            </a:r>
            <a:endParaRPr lang="ko-KR" altLang="en-US" sz="16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78CF8-34DA-E2D4-4D76-198D255E5EFA}"/>
              </a:ext>
            </a:extLst>
          </p:cNvPr>
          <p:cNvSpPr txBox="1"/>
          <p:nvPr/>
        </p:nvSpPr>
        <p:spPr>
          <a:xfrm>
            <a:off x="762000" y="2349500"/>
            <a:ext cx="342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std / file / db / archive / XML / URI / IPC</a:t>
            </a:r>
            <a:endParaRPr lang="ko-KR" altLang="en-US" sz="120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C02C633-6926-ED43-C114-0BE9F4BB84B8}"/>
              </a:ext>
            </a:extLst>
          </p:cNvPr>
          <p:cNvSpPr/>
          <p:nvPr/>
        </p:nvSpPr>
        <p:spPr>
          <a:xfrm>
            <a:off x="4800600" y="1778000"/>
            <a:ext cx="38100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0F0681F-A0C3-9726-A4BA-227D93F9327D}"/>
              </a:ext>
            </a:extLst>
          </p:cNvPr>
          <p:cNvSpPr/>
          <p:nvPr/>
        </p:nvSpPr>
        <p:spPr>
          <a:xfrm>
            <a:off x="4800600" y="1778000"/>
            <a:ext cx="63500" cy="12700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4507FA-D244-2F07-14BF-2C928ADBE7C4}"/>
              </a:ext>
            </a:extLst>
          </p:cNvPr>
          <p:cNvSpPr txBox="1"/>
          <p:nvPr/>
        </p:nvSpPr>
        <p:spPr>
          <a:xfrm>
            <a:off x="5029200" y="19558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 b="1">
                <a:solidFill>
                  <a:srgbClr val="1F2937"/>
                </a:solidFill>
                <a:latin typeface="Aptos" panose="020B0004020202020204" pitchFamily="34" charset="0"/>
              </a:rPr>
              <a:t>Windows host</a:t>
            </a:r>
            <a:endParaRPr lang="ko-KR" altLang="en-US" sz="16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199E3E-85B7-B8FE-6D9E-E6BA7336C1D9}"/>
              </a:ext>
            </a:extLst>
          </p:cNvPr>
          <p:cNvSpPr txBox="1"/>
          <p:nvPr/>
        </p:nvSpPr>
        <p:spPr>
          <a:xfrm>
            <a:off x="5029200" y="2349500"/>
            <a:ext cx="342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shell / powershell / registry / WMI / task / service</a:t>
            </a:r>
            <a:endParaRPr lang="ko-KR" altLang="en-US" sz="120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340905D-06EC-EA01-AD7A-FADD2EA1077B}"/>
              </a:ext>
            </a:extLst>
          </p:cNvPr>
          <p:cNvSpPr/>
          <p:nvPr/>
        </p:nvSpPr>
        <p:spPr>
          <a:xfrm>
            <a:off x="533400" y="3302000"/>
            <a:ext cx="38100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16A8794-4C24-DD17-14A0-5DC7FB230037}"/>
              </a:ext>
            </a:extLst>
          </p:cNvPr>
          <p:cNvSpPr/>
          <p:nvPr/>
        </p:nvSpPr>
        <p:spPr>
          <a:xfrm>
            <a:off x="533400" y="3302000"/>
            <a:ext cx="63500" cy="12700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A6CB60-A549-7323-2129-27FC413022CA}"/>
              </a:ext>
            </a:extLst>
          </p:cNvPr>
          <p:cNvSpPr txBox="1"/>
          <p:nvPr/>
        </p:nvSpPr>
        <p:spPr>
          <a:xfrm>
            <a:off x="762000" y="34798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 b="1">
                <a:solidFill>
                  <a:srgbClr val="1F2937"/>
                </a:solidFill>
                <a:latin typeface="Aptos" panose="020B0004020202020204" pitchFamily="34" charset="0"/>
              </a:rPr>
              <a:t>Network</a:t>
            </a:r>
            <a:endParaRPr lang="ko-KR" altLang="en-US" sz="16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1F869-A9AC-B470-C376-13B8923E2237}"/>
              </a:ext>
            </a:extLst>
          </p:cNvPr>
          <p:cNvSpPr txBox="1"/>
          <p:nvPr/>
        </p:nvSpPr>
        <p:spPr>
          <a:xfrm>
            <a:off x="762000" y="3873500"/>
            <a:ext cx="3429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http / websocket / mail / proxy / Cloudflare / Nmap</a:t>
            </a:r>
            <a:endParaRPr lang="ko-KR" altLang="en-US" sz="120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7FB97B0-D0EF-D932-BF0C-3E1B4518EBC3}"/>
              </a:ext>
            </a:extLst>
          </p:cNvPr>
          <p:cNvSpPr/>
          <p:nvPr/>
        </p:nvSpPr>
        <p:spPr>
          <a:xfrm>
            <a:off x="4800600" y="3302000"/>
            <a:ext cx="38100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553A096-0516-E27C-8856-75BDB95752B6}"/>
              </a:ext>
            </a:extLst>
          </p:cNvPr>
          <p:cNvSpPr/>
          <p:nvPr/>
        </p:nvSpPr>
        <p:spPr>
          <a:xfrm>
            <a:off x="4800600" y="3302000"/>
            <a:ext cx="63500" cy="12700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B9BBD6-2DA2-CA00-CB78-9F74373973E5}"/>
              </a:ext>
            </a:extLst>
          </p:cNvPr>
          <p:cNvSpPr txBox="1"/>
          <p:nvPr/>
        </p:nvSpPr>
        <p:spPr>
          <a:xfrm>
            <a:off x="5029200" y="34798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 b="1">
                <a:solidFill>
                  <a:srgbClr val="1F2937"/>
                </a:solidFill>
                <a:latin typeface="Aptos" panose="020B0004020202020204" pitchFamily="34" charset="0"/>
              </a:rPr>
              <a:t>Browser &amp; desktop</a:t>
            </a:r>
            <a:endParaRPr lang="ko-KR" altLang="en-US" sz="16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98495B-5BF4-72EA-9727-F314610FC135}"/>
              </a:ext>
            </a:extLst>
          </p:cNvPr>
          <p:cNvSpPr txBox="1"/>
          <p:nvPr/>
        </p:nvSpPr>
        <p:spPr>
          <a:xfrm>
            <a:off x="5029200" y="3873500"/>
            <a:ext cx="342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browser / chrome / AutoHotkey / AutoIt / ADB</a:t>
            </a:r>
            <a:endParaRPr lang="ko-KR" altLang="en-US" sz="120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FA27A9B-3A23-0881-4A9E-5C1548218306}"/>
              </a:ext>
            </a:extLst>
          </p:cNvPr>
          <p:cNvSpPr/>
          <p:nvPr/>
        </p:nvSpPr>
        <p:spPr>
          <a:xfrm>
            <a:off x="533400" y="4826000"/>
            <a:ext cx="38100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8396953-0455-01B4-67AC-4CC0AC1211AA}"/>
              </a:ext>
            </a:extLst>
          </p:cNvPr>
          <p:cNvSpPr/>
          <p:nvPr/>
        </p:nvSpPr>
        <p:spPr>
          <a:xfrm>
            <a:off x="533400" y="4826000"/>
            <a:ext cx="63500" cy="1270000"/>
          </a:xfrm>
          <a:prstGeom prst="rect">
            <a:avLst/>
          </a:prstGeom>
          <a:solidFill>
            <a:srgbClr val="9D5B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EA21C8-9F1E-C877-4C6B-271472ACFC90}"/>
              </a:ext>
            </a:extLst>
          </p:cNvPr>
          <p:cNvSpPr txBox="1"/>
          <p:nvPr/>
        </p:nvSpPr>
        <p:spPr>
          <a:xfrm>
            <a:off x="762000" y="50038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 b="1">
                <a:solidFill>
                  <a:srgbClr val="1F2937"/>
                </a:solidFill>
                <a:latin typeface="Aptos" panose="020B0004020202020204" pitchFamily="34" charset="0"/>
              </a:rPr>
              <a:t>AI &amp; native</a:t>
            </a:r>
            <a:endParaRPr lang="ko-KR" altLang="en-US" sz="16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3E6B61-8523-25F5-BD1F-0222F6A01F2B}"/>
              </a:ext>
            </a:extLst>
          </p:cNvPr>
          <p:cNvSpPr txBox="1"/>
          <p:nvPr/>
        </p:nvSpPr>
        <p:spPr>
          <a:xfrm>
            <a:off x="762000" y="5397500"/>
            <a:ext cx="3429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ChatGPT / Anthropic / Groq / ESENT / Cryptography</a:t>
            </a:r>
            <a:endParaRPr lang="ko-KR" altLang="en-US" sz="120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51850C3-F0F3-E81B-6D0D-37DF7F10177D}"/>
              </a:ext>
            </a:extLst>
          </p:cNvPr>
          <p:cNvSpPr/>
          <p:nvPr/>
        </p:nvSpPr>
        <p:spPr>
          <a:xfrm>
            <a:off x="4800600" y="4826000"/>
            <a:ext cx="38100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F3555D9-3E78-D304-30EB-DADC22F465B5}"/>
              </a:ext>
            </a:extLst>
          </p:cNvPr>
          <p:cNvSpPr/>
          <p:nvPr/>
        </p:nvSpPr>
        <p:spPr>
          <a:xfrm>
            <a:off x="4800600" y="4826000"/>
            <a:ext cx="63500" cy="12700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A8908E-451F-3E57-B5EC-BDAB9059CB8F}"/>
              </a:ext>
            </a:extLst>
          </p:cNvPr>
          <p:cNvSpPr txBox="1"/>
          <p:nvPr/>
        </p:nvSpPr>
        <p:spPr>
          <a:xfrm>
            <a:off x="5029200" y="50038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 b="1">
                <a:solidFill>
                  <a:srgbClr val="1F2937"/>
                </a:solidFill>
                <a:latin typeface="Aptos" panose="020B0004020202020204" pitchFamily="34" charset="0"/>
              </a:rPr>
              <a:t>Data &amp; security</a:t>
            </a:r>
            <a:endParaRPr lang="ko-KR" altLang="en-US" sz="16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B3476B-7DB6-87D6-F1F6-E8E6C70F9ECA}"/>
              </a:ext>
            </a:extLst>
          </p:cNvPr>
          <p:cNvSpPr txBox="1"/>
          <p:nvPr/>
        </p:nvSpPr>
        <p:spPr>
          <a:xfrm>
            <a:off x="5029200" y="5397500"/>
            <a:ext cx="342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credentials / cookie / hosts / TOTP / security</a:t>
            </a:r>
            <a:endParaRPr lang="ko-KR" altLang="en-US" sz="120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311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938A70-2302-AE33-A690-B9ACBCAFDC45}"/>
              </a:ext>
            </a:extLst>
          </p:cNvPr>
          <p:cNvSpPr txBox="1"/>
          <p:nvPr/>
        </p:nvSpPr>
        <p:spPr>
          <a:xfrm>
            <a:off x="533400" y="3048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6B7280"/>
                </a:solidFill>
                <a:latin typeface="Aptos" panose="020B0004020202020204" pitchFamily="34" charset="0"/>
              </a:rPr>
              <a:t>04 / Windows</a:t>
            </a:r>
            <a:endParaRPr lang="ko-KR" altLang="en-US" sz="11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42AF93-07DE-ABE4-71BC-5EE743327CE4}"/>
              </a:ext>
            </a:extLst>
          </p:cNvPr>
          <p:cNvSpPr txBox="1"/>
          <p:nvPr/>
        </p:nvSpPr>
        <p:spPr>
          <a:xfrm>
            <a:off x="533400" y="660400"/>
            <a:ext cx="8001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700" b="1">
                <a:solidFill>
                  <a:srgbClr val="1F2937"/>
                </a:solidFill>
                <a:latin typeface="Aptos" panose="020B0004020202020204" pitchFamily="34" charset="0"/>
              </a:rPr>
              <a:t>Windows </a:t>
            </a:r>
            <a:r>
              <a:rPr lang="ko-KR" altLang="en-US" sz="2700" b="1">
                <a:solidFill>
                  <a:srgbClr val="1F2937"/>
                </a:solidFill>
                <a:latin typeface="Aptos" panose="020B0004020202020204" pitchFamily="34" charset="0"/>
              </a:rPr>
              <a:t>시스템 제어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9A889EE-DEFD-C0F1-B37F-8714D956E7B4}"/>
              </a:ext>
            </a:extLst>
          </p:cNvPr>
          <p:cNvSpPr/>
          <p:nvPr/>
        </p:nvSpPr>
        <p:spPr>
          <a:xfrm>
            <a:off x="533400" y="1371600"/>
            <a:ext cx="8077200" cy="381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BA4084-075B-7277-67EF-3CA260DBF6A9}"/>
              </a:ext>
            </a:extLst>
          </p:cNvPr>
          <p:cNvSpPr txBox="1"/>
          <p:nvPr/>
        </p:nvSpPr>
        <p:spPr>
          <a:xfrm>
            <a:off x="533400" y="64135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B7280"/>
                </a:solidFill>
                <a:latin typeface="Aptos" panose="020B0004020202020204" pitchFamily="34" charset="0"/>
              </a:rPr>
              <a:t>WelsonJS</a:t>
            </a:r>
            <a:endParaRPr lang="ko-KR" altLang="en-US" sz="9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B24BAE-1B2B-A19F-490C-EFED8B063240}"/>
              </a:ext>
            </a:extLst>
          </p:cNvPr>
          <p:cNvSpPr txBox="1"/>
          <p:nvPr/>
        </p:nvSpPr>
        <p:spPr>
          <a:xfrm>
            <a:off x="8382000" y="64135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B7280"/>
                </a:solidFill>
                <a:latin typeface="Aptos" panose="020B0004020202020204" pitchFamily="34" charset="0"/>
              </a:rPr>
              <a:t>5</a:t>
            </a:r>
            <a:endParaRPr lang="ko-KR" altLang="en-US" sz="9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8E140F-000F-0DD4-92B0-FD15DA36EFF0}"/>
              </a:ext>
            </a:extLst>
          </p:cNvPr>
          <p:cNvSpPr txBox="1"/>
          <p:nvPr/>
        </p:nvSpPr>
        <p:spPr>
          <a:xfrm>
            <a:off x="698500" y="1905000"/>
            <a:ext cx="736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000" b="1">
                <a:solidFill>
                  <a:srgbClr val="1F2937"/>
                </a:solidFill>
                <a:latin typeface="Aptos" panose="020B0004020202020204" pitchFamily="34" charset="0"/>
              </a:rPr>
              <a:t>관찰하고</a:t>
            </a:r>
            <a:r>
              <a:rPr lang="en-US" altLang="ko-KR" sz="2000" b="1">
                <a:solidFill>
                  <a:srgbClr val="1F2937"/>
                </a:solidFill>
                <a:latin typeface="Aptos" panose="020B0004020202020204" pitchFamily="34" charset="0"/>
              </a:rPr>
              <a:t>, </a:t>
            </a:r>
            <a:r>
              <a:rPr lang="ko-KR" altLang="en-US" sz="2000" b="1">
                <a:solidFill>
                  <a:srgbClr val="1F2937"/>
                </a:solidFill>
                <a:latin typeface="Aptos" panose="020B0004020202020204" pitchFamily="34" charset="0"/>
              </a:rPr>
              <a:t>연결하고</a:t>
            </a:r>
            <a:r>
              <a:rPr lang="en-US" altLang="ko-KR" sz="2000" b="1">
                <a:solidFill>
                  <a:srgbClr val="1F2937"/>
                </a:solidFill>
                <a:latin typeface="Aptos" panose="020B0004020202020204" pitchFamily="34" charset="0"/>
              </a:rPr>
              <a:t>, </a:t>
            </a:r>
            <a:r>
              <a:rPr lang="ko-KR" altLang="en-US" sz="2000" b="1">
                <a:solidFill>
                  <a:srgbClr val="1F2937"/>
                </a:solidFill>
                <a:latin typeface="Aptos" panose="020B0004020202020204" pitchFamily="34" charset="0"/>
              </a:rPr>
              <a:t>운영합니다</a:t>
            </a:r>
            <a:r>
              <a:rPr lang="en-US" altLang="ko-KR" sz="2000" b="1">
                <a:solidFill>
                  <a:srgbClr val="1F2937"/>
                </a:solidFill>
                <a:latin typeface="Aptos" panose="020B0004020202020204" pitchFamily="34" charset="0"/>
              </a:rPr>
              <a:t>.</a:t>
            </a:r>
            <a:endParaRPr lang="ko-KR" altLang="en-US" sz="20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9C7D477-B1B3-9933-659E-DB0E2456909E}"/>
              </a:ext>
            </a:extLst>
          </p:cNvPr>
          <p:cNvSpPr/>
          <p:nvPr/>
        </p:nvSpPr>
        <p:spPr>
          <a:xfrm>
            <a:off x="533400" y="2984500"/>
            <a:ext cx="3810000" cy="1524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34AABDB-E74F-5186-17A6-26D4D24178D1}"/>
              </a:ext>
            </a:extLst>
          </p:cNvPr>
          <p:cNvSpPr/>
          <p:nvPr/>
        </p:nvSpPr>
        <p:spPr>
          <a:xfrm>
            <a:off x="533400" y="2984500"/>
            <a:ext cx="63500" cy="1524000"/>
          </a:xfrm>
          <a:prstGeom prst="rect">
            <a:avLst/>
          </a:prstGeom>
          <a:solidFill>
            <a:srgbClr val="9D5B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23B4BE-8B35-B811-45FA-60B4D224D7FE}"/>
              </a:ext>
            </a:extLst>
          </p:cNvPr>
          <p:cNvSpPr txBox="1"/>
          <p:nvPr/>
        </p:nvSpPr>
        <p:spPr>
          <a:xfrm>
            <a:off x="762000" y="31623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 b="1">
                <a:solidFill>
                  <a:srgbClr val="1F2937"/>
                </a:solidFill>
                <a:latin typeface="Aptos" panose="020B0004020202020204" pitchFamily="34" charset="0"/>
              </a:rPr>
              <a:t>파일 </a:t>
            </a:r>
            <a:r>
              <a:rPr lang="en-US" altLang="ko-KR" sz="1600" b="1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600" b="1">
                <a:solidFill>
                  <a:srgbClr val="1F2937"/>
                </a:solidFill>
                <a:latin typeface="Aptos" panose="020B0004020202020204" pitchFamily="34" charset="0"/>
              </a:rPr>
              <a:t>프로세스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4D3A8-D1D0-B497-688D-61CF012A297D}"/>
              </a:ext>
            </a:extLst>
          </p:cNvPr>
          <p:cNvSpPr txBox="1"/>
          <p:nvPr/>
        </p:nvSpPr>
        <p:spPr>
          <a:xfrm>
            <a:off x="762000" y="3556000"/>
            <a:ext cx="342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파일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IO 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압축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프로세스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태스크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서비스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600DAC4-A1AD-D3D5-B12F-330644D143C1}"/>
              </a:ext>
            </a:extLst>
          </p:cNvPr>
          <p:cNvSpPr/>
          <p:nvPr/>
        </p:nvSpPr>
        <p:spPr>
          <a:xfrm>
            <a:off x="4800600" y="2984500"/>
            <a:ext cx="3810000" cy="1524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D95E8B-C235-47BF-EEEF-8865D5C9CF0E}"/>
              </a:ext>
            </a:extLst>
          </p:cNvPr>
          <p:cNvSpPr/>
          <p:nvPr/>
        </p:nvSpPr>
        <p:spPr>
          <a:xfrm>
            <a:off x="4800600" y="2984500"/>
            <a:ext cx="63500" cy="15240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73CC37-6D17-1FC7-6315-6C49F01EBAC9}"/>
              </a:ext>
            </a:extLst>
          </p:cNvPr>
          <p:cNvSpPr txBox="1"/>
          <p:nvPr/>
        </p:nvSpPr>
        <p:spPr>
          <a:xfrm>
            <a:off x="5029200" y="31623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 b="1">
                <a:solidFill>
                  <a:srgbClr val="1F2937"/>
                </a:solidFill>
                <a:latin typeface="Aptos" panose="020B0004020202020204" pitchFamily="34" charset="0"/>
              </a:rPr>
              <a:t>시스템 정보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2EB0B7-5A73-F6AD-94D2-50312FAA5D29}"/>
              </a:ext>
            </a:extLst>
          </p:cNvPr>
          <p:cNvSpPr txBox="1"/>
          <p:nvPr/>
        </p:nvSpPr>
        <p:spPr>
          <a:xfrm>
            <a:off x="5029200" y="3556000"/>
            <a:ext cx="342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WMI 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레지스트리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호스트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네트워크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F346FEC-AF58-D7C9-B07C-EA1245BA9A65}"/>
              </a:ext>
            </a:extLst>
          </p:cNvPr>
          <p:cNvSpPr/>
          <p:nvPr/>
        </p:nvSpPr>
        <p:spPr>
          <a:xfrm>
            <a:off x="533400" y="4953000"/>
            <a:ext cx="3810000" cy="114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DE4BBA-E9B0-9FC7-7284-E3AECBE59A5B}"/>
              </a:ext>
            </a:extLst>
          </p:cNvPr>
          <p:cNvSpPr/>
          <p:nvPr/>
        </p:nvSpPr>
        <p:spPr>
          <a:xfrm>
            <a:off x="533400" y="4953000"/>
            <a:ext cx="63500" cy="11430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439E06-8082-66F9-0AED-34FF30404D14}"/>
              </a:ext>
            </a:extLst>
          </p:cNvPr>
          <p:cNvSpPr txBox="1"/>
          <p:nvPr/>
        </p:nvSpPr>
        <p:spPr>
          <a:xfrm>
            <a:off x="762000" y="51308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 b="1">
                <a:solidFill>
                  <a:srgbClr val="1F2937"/>
                </a:solidFill>
                <a:latin typeface="Aptos" panose="020B0004020202020204" pitchFamily="34" charset="0"/>
              </a:rPr>
              <a:t>IPC</a:t>
            </a:r>
            <a:endParaRPr lang="ko-KR" altLang="en-US" sz="16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76556A-CF1E-2498-5143-BA86DB5825FE}"/>
              </a:ext>
            </a:extLst>
          </p:cNvPr>
          <p:cNvSpPr txBox="1"/>
          <p:nvPr/>
        </p:nvSpPr>
        <p:spPr>
          <a:xfrm>
            <a:off x="762000" y="5524500"/>
            <a:ext cx="342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named shared memory / pipe / MSMQ</a:t>
            </a:r>
            <a:endParaRPr lang="ko-KR" altLang="en-US" sz="120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65142A2-0579-A701-928E-FE2CC8177980}"/>
              </a:ext>
            </a:extLst>
          </p:cNvPr>
          <p:cNvSpPr/>
          <p:nvPr/>
        </p:nvSpPr>
        <p:spPr>
          <a:xfrm>
            <a:off x="4800600" y="4953000"/>
            <a:ext cx="3810000" cy="114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00218CD-E1E0-62C8-3CB5-BCFEC3F8DD71}"/>
              </a:ext>
            </a:extLst>
          </p:cNvPr>
          <p:cNvSpPr/>
          <p:nvPr/>
        </p:nvSpPr>
        <p:spPr>
          <a:xfrm>
            <a:off x="4800600" y="4953000"/>
            <a:ext cx="63500" cy="11430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0BBF6A-259E-E3BC-94D0-8240AA6EC456}"/>
              </a:ext>
            </a:extLst>
          </p:cNvPr>
          <p:cNvSpPr txBox="1"/>
          <p:nvPr/>
        </p:nvSpPr>
        <p:spPr>
          <a:xfrm>
            <a:off x="5029200" y="51308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 b="1">
                <a:solidFill>
                  <a:srgbClr val="1F2937"/>
                </a:solidFill>
                <a:latin typeface="Aptos" panose="020B0004020202020204" pitchFamily="34" charset="0"/>
              </a:rPr>
              <a:t>입력 제어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C176B0-A939-56E5-D2A8-5AC86382A5A5}"/>
              </a:ext>
            </a:extLst>
          </p:cNvPr>
          <p:cNvSpPr txBox="1"/>
          <p:nvPr/>
        </p:nvSpPr>
        <p:spPr>
          <a:xfrm>
            <a:off x="5029200" y="5524500"/>
            <a:ext cx="342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키보드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마우스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대화창</a:t>
            </a:r>
          </a:p>
        </p:txBody>
      </p:sp>
    </p:spTree>
    <p:extLst>
      <p:ext uri="{BB962C8B-B14F-4D97-AF65-F5344CB8AC3E}">
        <p14:creationId xmlns:p14="http://schemas.microsoft.com/office/powerpoint/2010/main" val="865363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C8D775-6ABE-442D-5529-2F4B2B066189}"/>
              </a:ext>
            </a:extLst>
          </p:cNvPr>
          <p:cNvSpPr txBox="1"/>
          <p:nvPr/>
        </p:nvSpPr>
        <p:spPr>
          <a:xfrm>
            <a:off x="533400" y="3048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6B7280"/>
                </a:solidFill>
                <a:latin typeface="Aptos" panose="020B0004020202020204" pitchFamily="34" charset="0"/>
              </a:rPr>
              <a:t>05 / Office</a:t>
            </a:r>
            <a:endParaRPr lang="ko-KR" altLang="en-US" sz="11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5FB331-743F-6BDF-0A76-400F944A9F93}"/>
              </a:ext>
            </a:extLst>
          </p:cNvPr>
          <p:cNvSpPr txBox="1"/>
          <p:nvPr/>
        </p:nvSpPr>
        <p:spPr>
          <a:xfrm>
            <a:off x="533400" y="660400"/>
            <a:ext cx="8001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700" b="1">
                <a:solidFill>
                  <a:srgbClr val="1F2937"/>
                </a:solidFill>
                <a:latin typeface="Aptos" panose="020B0004020202020204" pitchFamily="34" charset="0"/>
              </a:rPr>
              <a:t>Microsoft Office </a:t>
            </a:r>
            <a:r>
              <a:rPr lang="ko-KR" altLang="en-US" sz="2700" b="1">
                <a:solidFill>
                  <a:srgbClr val="1F2937"/>
                </a:solidFill>
                <a:latin typeface="Aptos" panose="020B0004020202020204" pitchFamily="34" charset="0"/>
              </a:rPr>
              <a:t>자동화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92CA10-BD65-E809-654C-B64040E1FEA3}"/>
              </a:ext>
            </a:extLst>
          </p:cNvPr>
          <p:cNvSpPr/>
          <p:nvPr/>
        </p:nvSpPr>
        <p:spPr>
          <a:xfrm>
            <a:off x="533400" y="1371600"/>
            <a:ext cx="8077200" cy="381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8A82D3-A961-5FBC-E019-E9E35F257EE5}"/>
              </a:ext>
            </a:extLst>
          </p:cNvPr>
          <p:cNvSpPr txBox="1"/>
          <p:nvPr/>
        </p:nvSpPr>
        <p:spPr>
          <a:xfrm>
            <a:off x="533400" y="64135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B7280"/>
                </a:solidFill>
                <a:latin typeface="Aptos" panose="020B0004020202020204" pitchFamily="34" charset="0"/>
              </a:rPr>
              <a:t>WelsonJS</a:t>
            </a:r>
            <a:endParaRPr lang="ko-KR" altLang="en-US" sz="9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ACB214-006F-3D17-DEAA-13C3C70346A4}"/>
              </a:ext>
            </a:extLst>
          </p:cNvPr>
          <p:cNvSpPr txBox="1"/>
          <p:nvPr/>
        </p:nvSpPr>
        <p:spPr>
          <a:xfrm>
            <a:off x="8382000" y="64135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B7280"/>
                </a:solidFill>
                <a:latin typeface="Aptos" panose="020B0004020202020204" pitchFamily="34" charset="0"/>
              </a:rPr>
              <a:t>6</a:t>
            </a:r>
            <a:endParaRPr lang="ko-KR" altLang="en-US" sz="9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85513-6E6B-2B76-4071-D5594D8AE91C}"/>
              </a:ext>
            </a:extLst>
          </p:cNvPr>
          <p:cNvSpPr txBox="1"/>
          <p:nvPr/>
        </p:nvSpPr>
        <p:spPr>
          <a:xfrm>
            <a:off x="698500" y="1968500"/>
            <a:ext cx="177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000" b="1">
                <a:solidFill>
                  <a:srgbClr val="4B6F6B"/>
                </a:solidFill>
                <a:latin typeface="Aptos" panose="020B0004020202020204" pitchFamily="34" charset="0"/>
              </a:rPr>
              <a:t>Excel</a:t>
            </a:r>
            <a:endParaRPr lang="ko-KR" altLang="en-US" sz="2000" b="1">
              <a:solidFill>
                <a:srgbClr val="4B6F6B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E503CB-875E-CEFB-EEDF-31DC76C79395}"/>
              </a:ext>
            </a:extLst>
          </p:cNvPr>
          <p:cNvSpPr txBox="1"/>
          <p:nvPr/>
        </p:nvSpPr>
        <p:spPr>
          <a:xfrm>
            <a:off x="698500" y="2413000"/>
            <a:ext cx="635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400">
                <a:solidFill>
                  <a:srgbClr val="1F2937"/>
                </a:solidFill>
                <a:latin typeface="Aptos" panose="020B0004020202020204" pitchFamily="34" charset="0"/>
              </a:rPr>
              <a:t>범위 값 </a:t>
            </a:r>
            <a:r>
              <a:rPr lang="en-US" altLang="ko-KR" sz="14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400">
                <a:solidFill>
                  <a:srgbClr val="1F2937"/>
                </a:solidFill>
                <a:latin typeface="Aptos" panose="020B0004020202020204" pitchFamily="34" charset="0"/>
              </a:rPr>
              <a:t>수식 </a:t>
            </a:r>
            <a:r>
              <a:rPr lang="en-US" altLang="ko-KR" sz="14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400">
                <a:solidFill>
                  <a:srgbClr val="1F2937"/>
                </a:solidFill>
                <a:latin typeface="Aptos" panose="020B0004020202020204" pitchFamily="34" charset="0"/>
              </a:rPr>
              <a:t>서식 </a:t>
            </a:r>
            <a:r>
              <a:rPr lang="en-US" altLang="ko-KR" sz="14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400">
                <a:solidFill>
                  <a:srgbClr val="1F2937"/>
                </a:solidFill>
                <a:latin typeface="Aptos" panose="020B0004020202020204" pitchFamily="34" charset="0"/>
              </a:rPr>
              <a:t>워크시트 </a:t>
            </a:r>
            <a:r>
              <a:rPr lang="en-US" altLang="ko-KR" sz="14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400">
                <a:solidFill>
                  <a:srgbClr val="1F2937"/>
                </a:solidFill>
                <a:latin typeface="Aptos" panose="020B0004020202020204" pitchFamily="34" charset="0"/>
              </a:rPr>
              <a:t>도형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BCD0E0-2AC3-1041-E7EB-CE9F8428B9F3}"/>
              </a:ext>
            </a:extLst>
          </p:cNvPr>
          <p:cNvSpPr txBox="1"/>
          <p:nvPr/>
        </p:nvSpPr>
        <p:spPr>
          <a:xfrm>
            <a:off x="698500" y="3175000"/>
            <a:ext cx="228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000" b="1">
                <a:solidFill>
                  <a:srgbClr val="9D5B46"/>
                </a:solidFill>
                <a:latin typeface="Aptos" panose="020B0004020202020204" pitchFamily="34" charset="0"/>
              </a:rPr>
              <a:t>PowerPoint</a:t>
            </a:r>
            <a:endParaRPr lang="ko-KR" altLang="en-US" sz="2000" b="1">
              <a:solidFill>
                <a:srgbClr val="9D5B46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DFC807-F6BA-A103-EF4D-C0ADBF1B9D54}"/>
              </a:ext>
            </a:extLst>
          </p:cNvPr>
          <p:cNvSpPr txBox="1"/>
          <p:nvPr/>
        </p:nvSpPr>
        <p:spPr>
          <a:xfrm>
            <a:off x="698500" y="3619500"/>
            <a:ext cx="660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400">
                <a:solidFill>
                  <a:srgbClr val="1F2937"/>
                </a:solidFill>
                <a:latin typeface="Aptos" panose="020B0004020202020204" pitchFamily="34" charset="0"/>
              </a:rPr>
              <a:t>슬라이드 </a:t>
            </a:r>
            <a:r>
              <a:rPr lang="en-US" altLang="ko-KR" sz="14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400">
                <a:solidFill>
                  <a:srgbClr val="1F2937"/>
                </a:solidFill>
                <a:latin typeface="Aptos" panose="020B0004020202020204" pitchFamily="34" charset="0"/>
              </a:rPr>
              <a:t>텍스트 </a:t>
            </a:r>
            <a:r>
              <a:rPr lang="en-US" altLang="ko-KR" sz="14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400">
                <a:solidFill>
                  <a:srgbClr val="1F2937"/>
                </a:solidFill>
                <a:latin typeface="Aptos" panose="020B0004020202020204" pitchFamily="34" charset="0"/>
              </a:rPr>
              <a:t>도형 </a:t>
            </a:r>
            <a:r>
              <a:rPr lang="en-US" altLang="ko-KR" sz="1400">
                <a:solidFill>
                  <a:srgbClr val="1F2937"/>
                </a:solidFill>
                <a:latin typeface="Aptos" panose="020B0004020202020204" pitchFamily="34" charset="0"/>
              </a:rPr>
              <a:t>/ SVG </a:t>
            </a:r>
            <a:r>
              <a:rPr lang="ko-KR" altLang="en-US" sz="1400">
                <a:solidFill>
                  <a:srgbClr val="1F2937"/>
                </a:solidFill>
                <a:latin typeface="Aptos" panose="020B0004020202020204" pitchFamily="34" charset="0"/>
              </a:rPr>
              <a:t>이미지 </a:t>
            </a:r>
            <a:r>
              <a:rPr lang="en-US" altLang="ko-KR" sz="1400">
                <a:solidFill>
                  <a:srgbClr val="1F2937"/>
                </a:solidFill>
                <a:latin typeface="Aptos" panose="020B0004020202020204" pitchFamily="34" charset="0"/>
              </a:rPr>
              <a:t>/ PDF</a:t>
            </a:r>
            <a:endParaRPr lang="ko-KR" altLang="en-US" sz="140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B98671-001F-B2A7-1AC2-A0BA4E42BAC4}"/>
              </a:ext>
            </a:extLst>
          </p:cNvPr>
          <p:cNvSpPr txBox="1"/>
          <p:nvPr/>
        </p:nvSpPr>
        <p:spPr>
          <a:xfrm>
            <a:off x="698500" y="4381500"/>
            <a:ext cx="279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000" b="1">
                <a:solidFill>
                  <a:srgbClr val="6B7280"/>
                </a:solidFill>
                <a:latin typeface="Aptos" panose="020B0004020202020204" pitchFamily="34" charset="0"/>
              </a:rPr>
              <a:t>Word / Outlook</a:t>
            </a:r>
            <a:endParaRPr lang="ko-KR" altLang="en-US" sz="20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ACFE56-B94C-C500-3A17-228179AFEC4D}"/>
              </a:ext>
            </a:extLst>
          </p:cNvPr>
          <p:cNvSpPr txBox="1"/>
          <p:nvPr/>
        </p:nvSpPr>
        <p:spPr>
          <a:xfrm>
            <a:off x="698500" y="4826000"/>
            <a:ext cx="660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400">
                <a:solidFill>
                  <a:srgbClr val="1F2937"/>
                </a:solidFill>
                <a:latin typeface="Aptos" panose="020B0004020202020204" pitchFamily="34" charset="0"/>
              </a:rPr>
              <a:t>문서편집 </a:t>
            </a:r>
            <a:r>
              <a:rPr lang="en-US" altLang="ko-KR" sz="14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400">
                <a:solidFill>
                  <a:srgbClr val="1F2937"/>
                </a:solidFill>
                <a:latin typeface="Aptos" panose="020B0004020202020204" pitchFamily="34" charset="0"/>
              </a:rPr>
              <a:t>표 </a:t>
            </a:r>
            <a:r>
              <a:rPr lang="en-US" altLang="ko-KR" sz="14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400">
                <a:solidFill>
                  <a:srgbClr val="1F2937"/>
                </a:solidFill>
                <a:latin typeface="Aptos" panose="020B0004020202020204" pitchFamily="34" charset="0"/>
              </a:rPr>
              <a:t>메일 검색 </a:t>
            </a:r>
            <a:r>
              <a:rPr lang="en-US" altLang="ko-KR" sz="14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400">
                <a:solidFill>
                  <a:srgbClr val="1F2937"/>
                </a:solidFill>
                <a:latin typeface="Aptos" panose="020B0004020202020204" pitchFamily="34" charset="0"/>
              </a:rPr>
              <a:t>작성</a:t>
            </a:r>
          </a:p>
        </p:txBody>
      </p:sp>
    </p:spTree>
    <p:extLst>
      <p:ext uri="{BB962C8B-B14F-4D97-AF65-F5344CB8AC3E}">
        <p14:creationId xmlns:p14="http://schemas.microsoft.com/office/powerpoint/2010/main" val="23731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E4F012-EC0A-8196-353F-14A306828D69}"/>
              </a:ext>
            </a:extLst>
          </p:cNvPr>
          <p:cNvSpPr txBox="1"/>
          <p:nvPr/>
        </p:nvSpPr>
        <p:spPr>
          <a:xfrm>
            <a:off x="533400" y="3048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6B7280"/>
                </a:solidFill>
                <a:latin typeface="Aptos" panose="020B0004020202020204" pitchFamily="34" charset="0"/>
              </a:rPr>
              <a:t>06 / Network &amp; AI</a:t>
            </a:r>
            <a:endParaRPr lang="ko-KR" altLang="en-US" sz="11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C83F06-09D6-52AA-7767-FCF9A78F24CA}"/>
              </a:ext>
            </a:extLst>
          </p:cNvPr>
          <p:cNvSpPr txBox="1"/>
          <p:nvPr/>
        </p:nvSpPr>
        <p:spPr>
          <a:xfrm>
            <a:off x="533400" y="660400"/>
            <a:ext cx="8001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700" b="1">
                <a:solidFill>
                  <a:srgbClr val="1F2937"/>
                </a:solidFill>
                <a:latin typeface="Aptos" panose="020B0004020202020204" pitchFamily="34" charset="0"/>
              </a:rPr>
              <a:t>네트워크와 </a:t>
            </a:r>
            <a:r>
              <a:rPr lang="en-US" altLang="ko-KR" sz="2700" b="1">
                <a:solidFill>
                  <a:srgbClr val="1F2937"/>
                </a:solidFill>
                <a:latin typeface="Aptos" panose="020B0004020202020204" pitchFamily="34" charset="0"/>
              </a:rPr>
              <a:t>AI </a:t>
            </a:r>
            <a:r>
              <a:rPr lang="ko-KR" altLang="en-US" sz="2700" b="1">
                <a:solidFill>
                  <a:srgbClr val="1F2937"/>
                </a:solidFill>
                <a:latin typeface="Aptos" panose="020B0004020202020204" pitchFamily="34" charset="0"/>
              </a:rPr>
              <a:t>연결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CFE8F3-70EB-4600-FD33-ADA62A6A08A5}"/>
              </a:ext>
            </a:extLst>
          </p:cNvPr>
          <p:cNvSpPr/>
          <p:nvPr/>
        </p:nvSpPr>
        <p:spPr>
          <a:xfrm>
            <a:off x="533400" y="1371600"/>
            <a:ext cx="8077200" cy="381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E2063A-746C-32D6-E007-C7E988D10AAF}"/>
              </a:ext>
            </a:extLst>
          </p:cNvPr>
          <p:cNvSpPr txBox="1"/>
          <p:nvPr/>
        </p:nvSpPr>
        <p:spPr>
          <a:xfrm>
            <a:off x="533400" y="64135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B7280"/>
                </a:solidFill>
                <a:latin typeface="Aptos" panose="020B0004020202020204" pitchFamily="34" charset="0"/>
              </a:rPr>
              <a:t>WelsonJS</a:t>
            </a:r>
            <a:endParaRPr lang="ko-KR" altLang="en-US" sz="9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A9F48B-E904-3024-6B73-3ECA05D2AEC8}"/>
              </a:ext>
            </a:extLst>
          </p:cNvPr>
          <p:cNvSpPr txBox="1"/>
          <p:nvPr/>
        </p:nvSpPr>
        <p:spPr>
          <a:xfrm>
            <a:off x="8382000" y="64135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B7280"/>
                </a:solidFill>
                <a:latin typeface="Aptos" panose="020B0004020202020204" pitchFamily="34" charset="0"/>
              </a:rPr>
              <a:t>7</a:t>
            </a:r>
            <a:endParaRPr lang="ko-KR" altLang="en-US" sz="9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66560B7-438A-6A50-1495-76A552A4173D}"/>
              </a:ext>
            </a:extLst>
          </p:cNvPr>
          <p:cNvSpPr/>
          <p:nvPr/>
        </p:nvSpPr>
        <p:spPr>
          <a:xfrm>
            <a:off x="533400" y="1905000"/>
            <a:ext cx="3810000" cy="1397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68BA69-9EED-CEB7-143F-39E05C366A51}"/>
              </a:ext>
            </a:extLst>
          </p:cNvPr>
          <p:cNvSpPr/>
          <p:nvPr/>
        </p:nvSpPr>
        <p:spPr>
          <a:xfrm>
            <a:off x="533400" y="1905000"/>
            <a:ext cx="63500" cy="1397000"/>
          </a:xfrm>
          <a:prstGeom prst="rect">
            <a:avLst/>
          </a:prstGeom>
          <a:solidFill>
            <a:srgbClr val="9D5B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331B3-68C7-B0FD-992F-195FEE9976C2}"/>
              </a:ext>
            </a:extLst>
          </p:cNvPr>
          <p:cNvSpPr txBox="1"/>
          <p:nvPr/>
        </p:nvSpPr>
        <p:spPr>
          <a:xfrm>
            <a:off x="762000" y="20828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 b="1">
                <a:solidFill>
                  <a:srgbClr val="1F2937"/>
                </a:solidFill>
                <a:latin typeface="Aptos" panose="020B0004020202020204" pitchFamily="34" charset="0"/>
              </a:rPr>
              <a:t>HTTP / service</a:t>
            </a:r>
            <a:endParaRPr lang="ko-KR" altLang="en-US" sz="16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83325D-FB7A-CC5C-5839-4898C457EC20}"/>
              </a:ext>
            </a:extLst>
          </p:cNvPr>
          <p:cNvSpPr txBox="1"/>
          <p:nvPr/>
        </p:nvSpPr>
        <p:spPr>
          <a:xfrm>
            <a:off x="762000" y="2476500"/>
            <a:ext cx="3429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XHR / cURL / BITS / WebSocket / JSON-RPC / SMTP</a:t>
            </a:r>
            <a:endParaRPr lang="ko-KR" altLang="en-US" sz="120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FE8D49F-4EE9-911D-683A-3810B02D61E2}"/>
              </a:ext>
            </a:extLst>
          </p:cNvPr>
          <p:cNvSpPr/>
          <p:nvPr/>
        </p:nvSpPr>
        <p:spPr>
          <a:xfrm>
            <a:off x="4800600" y="1905000"/>
            <a:ext cx="3810000" cy="1397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2E2D32-BC3C-E219-B5B1-04F5BD51AC6D}"/>
              </a:ext>
            </a:extLst>
          </p:cNvPr>
          <p:cNvSpPr/>
          <p:nvPr/>
        </p:nvSpPr>
        <p:spPr>
          <a:xfrm>
            <a:off x="4800600" y="1905000"/>
            <a:ext cx="63500" cy="13970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6D186E-F4E4-4D5B-55E4-D31ADDBD2FA4}"/>
              </a:ext>
            </a:extLst>
          </p:cNvPr>
          <p:cNvSpPr txBox="1"/>
          <p:nvPr/>
        </p:nvSpPr>
        <p:spPr>
          <a:xfrm>
            <a:off x="5029200" y="20828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 b="1">
                <a:solidFill>
                  <a:srgbClr val="1F2937"/>
                </a:solidFill>
                <a:latin typeface="Aptos" panose="020B0004020202020204" pitchFamily="34" charset="0"/>
              </a:rPr>
              <a:t>Browser automation</a:t>
            </a:r>
            <a:endParaRPr lang="ko-KR" altLang="en-US" sz="16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A63346-52A4-61CE-E34A-BBA2C6101001}"/>
              </a:ext>
            </a:extLst>
          </p:cNvPr>
          <p:cNvSpPr txBox="1"/>
          <p:nvPr/>
        </p:nvSpPr>
        <p:spPr>
          <a:xfrm>
            <a:off x="5029200" y="2476500"/>
            <a:ext cx="342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Chrome DevTools / embedded browser / SERP</a:t>
            </a:r>
            <a:endParaRPr lang="ko-KR" altLang="en-US" sz="120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CA21710-322D-C805-32E8-F52FC347F986}"/>
              </a:ext>
            </a:extLst>
          </p:cNvPr>
          <p:cNvSpPr/>
          <p:nvPr/>
        </p:nvSpPr>
        <p:spPr>
          <a:xfrm>
            <a:off x="533400" y="3683000"/>
            <a:ext cx="3810000" cy="1397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9909D4B-EF87-CC5A-61D2-6D50DA241894}"/>
              </a:ext>
            </a:extLst>
          </p:cNvPr>
          <p:cNvSpPr/>
          <p:nvPr/>
        </p:nvSpPr>
        <p:spPr>
          <a:xfrm>
            <a:off x="533400" y="3683000"/>
            <a:ext cx="63500" cy="13970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4E6486-1B8C-0731-3828-0B15242D119F}"/>
              </a:ext>
            </a:extLst>
          </p:cNvPr>
          <p:cNvSpPr txBox="1"/>
          <p:nvPr/>
        </p:nvSpPr>
        <p:spPr>
          <a:xfrm>
            <a:off x="762000" y="38608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 b="1">
                <a:solidFill>
                  <a:srgbClr val="1F2937"/>
                </a:solidFill>
                <a:latin typeface="Aptos" panose="020B0004020202020204" pitchFamily="34" charset="0"/>
              </a:rPr>
              <a:t>AI providers</a:t>
            </a:r>
            <a:endParaRPr lang="ko-KR" altLang="en-US" sz="16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FBF831-1905-6A65-70E7-58DF5652E4D4}"/>
              </a:ext>
            </a:extLst>
          </p:cNvPr>
          <p:cNvSpPr txBox="1"/>
          <p:nvPr/>
        </p:nvSpPr>
        <p:spPr>
          <a:xfrm>
            <a:off x="762000" y="4254500"/>
            <a:ext cx="342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OpenAI / Anthropic / xAI / Groq / Gemini / Mistral</a:t>
            </a:r>
            <a:endParaRPr lang="ko-KR" altLang="en-US" sz="120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F1AA8DD-3D17-D18C-6A8A-CA9D186FBE64}"/>
              </a:ext>
            </a:extLst>
          </p:cNvPr>
          <p:cNvSpPr/>
          <p:nvPr/>
        </p:nvSpPr>
        <p:spPr>
          <a:xfrm>
            <a:off x="4800600" y="3683000"/>
            <a:ext cx="3810000" cy="1397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9B12B14-07FE-E026-AC84-7A61A0EE9182}"/>
              </a:ext>
            </a:extLst>
          </p:cNvPr>
          <p:cNvSpPr/>
          <p:nvPr/>
        </p:nvSpPr>
        <p:spPr>
          <a:xfrm>
            <a:off x="4800600" y="3683000"/>
            <a:ext cx="63500" cy="13970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CA6E71-A7D0-64EB-F3B5-A21B3B7EF8A6}"/>
              </a:ext>
            </a:extLst>
          </p:cNvPr>
          <p:cNvSpPr txBox="1"/>
          <p:nvPr/>
        </p:nvSpPr>
        <p:spPr>
          <a:xfrm>
            <a:off x="5029200" y="38608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 b="1">
                <a:solidFill>
                  <a:srgbClr val="1F2937"/>
                </a:solidFill>
                <a:latin typeface="Aptos" panose="020B0004020202020204" pitchFamily="34" charset="0"/>
              </a:rPr>
              <a:t>Data workflow</a:t>
            </a:r>
            <a:endParaRPr lang="ko-KR" altLang="en-US" sz="16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5BEB98-F233-D436-98CD-2D49126FE2C9}"/>
              </a:ext>
            </a:extLst>
          </p:cNvPr>
          <p:cNvSpPr txBox="1"/>
          <p:nvPr/>
        </p:nvSpPr>
        <p:spPr>
          <a:xfrm>
            <a:off x="5029200" y="4254500"/>
            <a:ext cx="342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수집 → 분석 → 저장 →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Office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보고서</a:t>
            </a:r>
          </a:p>
        </p:txBody>
      </p:sp>
    </p:spTree>
    <p:extLst>
      <p:ext uri="{BB962C8B-B14F-4D97-AF65-F5344CB8AC3E}">
        <p14:creationId xmlns:p14="http://schemas.microsoft.com/office/powerpoint/2010/main" val="2378752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6612D7-E7CA-4AC4-8A02-35602D5826CB}"/>
              </a:ext>
            </a:extLst>
          </p:cNvPr>
          <p:cNvSpPr txBox="1"/>
          <p:nvPr/>
        </p:nvSpPr>
        <p:spPr>
          <a:xfrm>
            <a:off x="533400" y="3048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6B7280"/>
                </a:solidFill>
                <a:latin typeface="Aptos" panose="020B0004020202020204" pitchFamily="34" charset="0"/>
              </a:rPr>
              <a:t>07 / Delivery</a:t>
            </a:r>
            <a:endParaRPr lang="ko-KR" altLang="en-US" sz="11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0EC658-9AE4-86C2-934F-2789B6880B4E}"/>
              </a:ext>
            </a:extLst>
          </p:cNvPr>
          <p:cNvSpPr txBox="1"/>
          <p:nvPr/>
        </p:nvSpPr>
        <p:spPr>
          <a:xfrm>
            <a:off x="533400" y="660400"/>
            <a:ext cx="8001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700" b="1">
                <a:solidFill>
                  <a:srgbClr val="1F2937"/>
                </a:solidFill>
                <a:latin typeface="Aptos" panose="020B0004020202020204" pitchFamily="34" charset="0"/>
              </a:rPr>
              <a:t>개발에서 배포까지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BF4AD2-F560-A08A-EA04-E9E45A644280}"/>
              </a:ext>
            </a:extLst>
          </p:cNvPr>
          <p:cNvSpPr/>
          <p:nvPr/>
        </p:nvSpPr>
        <p:spPr>
          <a:xfrm>
            <a:off x="533400" y="1371600"/>
            <a:ext cx="8077200" cy="381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CEF5E5-AEA7-6B1A-3C3D-4438DF31B70B}"/>
              </a:ext>
            </a:extLst>
          </p:cNvPr>
          <p:cNvSpPr txBox="1"/>
          <p:nvPr/>
        </p:nvSpPr>
        <p:spPr>
          <a:xfrm>
            <a:off x="533400" y="64135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B7280"/>
                </a:solidFill>
                <a:latin typeface="Aptos" panose="020B0004020202020204" pitchFamily="34" charset="0"/>
              </a:rPr>
              <a:t>WelsonJS</a:t>
            </a:r>
            <a:endParaRPr lang="ko-KR" altLang="en-US" sz="9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17A1E5-5183-BB84-3F6F-F856798B4C5B}"/>
              </a:ext>
            </a:extLst>
          </p:cNvPr>
          <p:cNvSpPr txBox="1"/>
          <p:nvPr/>
        </p:nvSpPr>
        <p:spPr>
          <a:xfrm>
            <a:off x="8382000" y="64135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B7280"/>
                </a:solidFill>
                <a:latin typeface="Aptos" panose="020B0004020202020204" pitchFamily="34" charset="0"/>
              </a:rPr>
              <a:t>8</a:t>
            </a:r>
            <a:endParaRPr lang="ko-KR" altLang="en-US" sz="9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24C69D-3CCC-5943-B003-384518567C1B}"/>
              </a:ext>
            </a:extLst>
          </p:cNvPr>
          <p:cNvSpPr txBox="1"/>
          <p:nvPr/>
        </p:nvSpPr>
        <p:spPr>
          <a:xfrm>
            <a:off x="762000" y="1968500"/>
            <a:ext cx="50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800" b="1">
                <a:solidFill>
                  <a:srgbClr val="9D5B46"/>
                </a:solidFill>
                <a:latin typeface="Aptos" panose="020B0004020202020204" pitchFamily="34" charset="0"/>
              </a:rPr>
              <a:t>1</a:t>
            </a:r>
            <a:endParaRPr lang="ko-KR" altLang="en-US" sz="2800" b="1">
              <a:solidFill>
                <a:srgbClr val="9D5B46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250D19-6ED8-E35F-3682-1B0DA0435D4D}"/>
              </a:ext>
            </a:extLst>
          </p:cNvPr>
          <p:cNvSpPr txBox="1"/>
          <p:nvPr/>
        </p:nvSpPr>
        <p:spPr>
          <a:xfrm>
            <a:off x="1460500" y="1968500"/>
            <a:ext cx="6350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700" b="1">
                <a:solidFill>
                  <a:srgbClr val="1F2937"/>
                </a:solidFill>
                <a:latin typeface="Aptos" panose="020B0004020202020204" pitchFamily="34" charset="0"/>
              </a:rPr>
              <a:t>모듈을 </a:t>
            </a:r>
            <a:r>
              <a:rPr lang="en-US" altLang="ko-KR" sz="1700" b="1">
                <a:solidFill>
                  <a:srgbClr val="1F2937"/>
                </a:solidFill>
                <a:latin typeface="Aptos" panose="020B0004020202020204" pitchFamily="34" charset="0"/>
              </a:rPr>
              <a:t>require</a:t>
            </a:r>
            <a:r>
              <a:rPr lang="ko-KR" altLang="en-US" sz="1700" b="1">
                <a:solidFill>
                  <a:srgbClr val="1F2937"/>
                </a:solidFill>
                <a:latin typeface="Aptos" panose="020B0004020202020204" pitchFamily="34" charset="0"/>
              </a:rPr>
              <a:t>하고 작은 스크립트로 검증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4DC43F-AC0D-BC66-5CDB-C1EB6F88B71A}"/>
              </a:ext>
            </a:extLst>
          </p:cNvPr>
          <p:cNvSpPr txBox="1"/>
          <p:nvPr/>
        </p:nvSpPr>
        <p:spPr>
          <a:xfrm>
            <a:off x="762000" y="3111500"/>
            <a:ext cx="50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800" b="1">
                <a:solidFill>
                  <a:srgbClr val="4B6F6B"/>
                </a:solidFill>
                <a:latin typeface="Aptos" panose="020B0004020202020204" pitchFamily="34" charset="0"/>
              </a:rPr>
              <a:t>2</a:t>
            </a:r>
            <a:endParaRPr lang="ko-KR" altLang="en-US" sz="2800" b="1">
              <a:solidFill>
                <a:srgbClr val="4B6F6B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0ED034-3F3C-C56F-C87E-0DF88D207A8F}"/>
              </a:ext>
            </a:extLst>
          </p:cNvPr>
          <p:cNvSpPr txBox="1"/>
          <p:nvPr/>
        </p:nvSpPr>
        <p:spPr>
          <a:xfrm>
            <a:off x="1460500" y="3111500"/>
            <a:ext cx="6350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1F2937"/>
                </a:solidFill>
                <a:latin typeface="Aptos" panose="020B0004020202020204" pitchFamily="34" charset="0"/>
              </a:rPr>
              <a:t>testloader / profile</a:t>
            </a:r>
            <a:r>
              <a:rPr lang="ko-KR" altLang="en-US" sz="1700" b="1">
                <a:solidFill>
                  <a:srgbClr val="1F2937"/>
                </a:solidFill>
                <a:latin typeface="Aptos" panose="020B0004020202020204" pitchFamily="34" charset="0"/>
              </a:rPr>
              <a:t>로 환경별 테스트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8C5F31-6AAC-9C37-C290-B3036A2E7E09}"/>
              </a:ext>
            </a:extLst>
          </p:cNvPr>
          <p:cNvSpPr txBox="1"/>
          <p:nvPr/>
        </p:nvSpPr>
        <p:spPr>
          <a:xfrm>
            <a:off x="762000" y="4254500"/>
            <a:ext cx="50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800" b="1">
                <a:solidFill>
                  <a:srgbClr val="6B7280"/>
                </a:solidFill>
                <a:latin typeface="Aptos" panose="020B0004020202020204" pitchFamily="34" charset="0"/>
              </a:rPr>
              <a:t>3</a:t>
            </a:r>
            <a:endParaRPr lang="ko-KR" altLang="en-US" sz="28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EC831B-D0A3-4452-ADCC-9D5CBC6DC8E4}"/>
              </a:ext>
            </a:extLst>
          </p:cNvPr>
          <p:cNvSpPr txBox="1"/>
          <p:nvPr/>
        </p:nvSpPr>
        <p:spPr>
          <a:xfrm>
            <a:off x="1460500" y="4254500"/>
            <a:ext cx="6350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1F2937"/>
                </a:solidFill>
                <a:latin typeface="Aptos" panose="020B0004020202020204" pitchFamily="34" charset="0"/>
              </a:rPr>
              <a:t>Launcher / JCTG / ZIP / Windows Service</a:t>
            </a:r>
            <a:r>
              <a:rPr lang="ko-KR" altLang="en-US" sz="1700" b="1">
                <a:solidFill>
                  <a:srgbClr val="1F2937"/>
                </a:solidFill>
                <a:latin typeface="Aptos" panose="020B0004020202020204" pitchFamily="34" charset="0"/>
              </a:rPr>
              <a:t>로 배포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706DB33-1F15-8D45-17E7-1D9146AFFAAF}"/>
              </a:ext>
            </a:extLst>
          </p:cNvPr>
          <p:cNvSpPr/>
          <p:nvPr/>
        </p:nvSpPr>
        <p:spPr>
          <a:xfrm>
            <a:off x="533400" y="5270500"/>
            <a:ext cx="80772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535E237-0109-F668-DF16-E6809E891739}"/>
              </a:ext>
            </a:extLst>
          </p:cNvPr>
          <p:cNvSpPr/>
          <p:nvPr/>
        </p:nvSpPr>
        <p:spPr>
          <a:xfrm>
            <a:off x="533400" y="5270500"/>
            <a:ext cx="63500" cy="8255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A9B21E-C759-7510-A435-69E3A39D7D78}"/>
              </a:ext>
            </a:extLst>
          </p:cNvPr>
          <p:cNvSpPr txBox="1"/>
          <p:nvPr/>
        </p:nvSpPr>
        <p:spPr>
          <a:xfrm>
            <a:off x="762000" y="5448300"/>
            <a:ext cx="76962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 b="1">
                <a:solidFill>
                  <a:srgbClr val="1F2937"/>
                </a:solidFill>
                <a:latin typeface="Aptos" panose="020B0004020202020204" pitchFamily="34" charset="0"/>
              </a:rPr>
              <a:t>운영 체크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E6DB79-D830-1771-9D6B-9F847D6DFE40}"/>
              </a:ext>
            </a:extLst>
          </p:cNvPr>
          <p:cNvSpPr txBox="1"/>
          <p:nvPr/>
        </p:nvSpPr>
        <p:spPr>
          <a:xfrm>
            <a:off x="762000" y="5842000"/>
            <a:ext cx="76962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권한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설치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자격증명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네트워크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로그</a:t>
            </a:r>
          </a:p>
        </p:txBody>
      </p:sp>
    </p:spTree>
    <p:extLst>
      <p:ext uri="{BB962C8B-B14F-4D97-AF65-F5344CB8AC3E}">
        <p14:creationId xmlns:p14="http://schemas.microsoft.com/office/powerpoint/2010/main" val="3559379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699012-DDE1-E69A-4EA6-6D2F3C37084F}"/>
              </a:ext>
            </a:extLst>
          </p:cNvPr>
          <p:cNvSpPr txBox="1"/>
          <p:nvPr/>
        </p:nvSpPr>
        <p:spPr>
          <a:xfrm>
            <a:off x="533400" y="3048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6B7280"/>
                </a:solidFill>
                <a:latin typeface="Aptos" panose="020B0004020202020204" pitchFamily="34" charset="0"/>
              </a:rPr>
              <a:t>08 / Use cases</a:t>
            </a:r>
            <a:endParaRPr lang="ko-KR" altLang="en-US" sz="11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D573E1-EA73-0105-48A0-67BA098560BA}"/>
              </a:ext>
            </a:extLst>
          </p:cNvPr>
          <p:cNvSpPr txBox="1"/>
          <p:nvPr/>
        </p:nvSpPr>
        <p:spPr>
          <a:xfrm>
            <a:off x="533400" y="660400"/>
            <a:ext cx="8001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700" b="1">
                <a:solidFill>
                  <a:srgbClr val="1F2937"/>
                </a:solidFill>
                <a:latin typeface="Aptos" panose="020B0004020202020204" pitchFamily="34" charset="0"/>
              </a:rPr>
              <a:t>현장 활용 시나리오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DBB2406-36BC-D263-75A7-FCECBA1D5621}"/>
              </a:ext>
            </a:extLst>
          </p:cNvPr>
          <p:cNvSpPr/>
          <p:nvPr/>
        </p:nvSpPr>
        <p:spPr>
          <a:xfrm>
            <a:off x="533400" y="1371600"/>
            <a:ext cx="8077200" cy="381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2906C-8332-43A8-9EDF-AB10898E53B7}"/>
              </a:ext>
            </a:extLst>
          </p:cNvPr>
          <p:cNvSpPr txBox="1"/>
          <p:nvPr/>
        </p:nvSpPr>
        <p:spPr>
          <a:xfrm>
            <a:off x="533400" y="64135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B7280"/>
                </a:solidFill>
                <a:latin typeface="Aptos" panose="020B0004020202020204" pitchFamily="34" charset="0"/>
              </a:rPr>
              <a:t>WelsonJS</a:t>
            </a:r>
            <a:endParaRPr lang="ko-KR" altLang="en-US" sz="9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6C4F45-D58D-F145-4389-B33B502B5D55}"/>
              </a:ext>
            </a:extLst>
          </p:cNvPr>
          <p:cNvSpPr txBox="1"/>
          <p:nvPr/>
        </p:nvSpPr>
        <p:spPr>
          <a:xfrm>
            <a:off x="8382000" y="64135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B7280"/>
                </a:solidFill>
                <a:latin typeface="Aptos" panose="020B0004020202020204" pitchFamily="34" charset="0"/>
              </a:rPr>
              <a:t>9</a:t>
            </a:r>
            <a:endParaRPr lang="ko-KR" altLang="en-US" sz="9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66BCA09-9023-8E63-0BC8-ECC4574EF2E9}"/>
              </a:ext>
            </a:extLst>
          </p:cNvPr>
          <p:cNvSpPr/>
          <p:nvPr/>
        </p:nvSpPr>
        <p:spPr>
          <a:xfrm>
            <a:off x="533400" y="1841500"/>
            <a:ext cx="3810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AA2DDC-91F2-BAAD-FB18-0FC3BEA4148E}"/>
              </a:ext>
            </a:extLst>
          </p:cNvPr>
          <p:cNvSpPr/>
          <p:nvPr/>
        </p:nvSpPr>
        <p:spPr>
          <a:xfrm>
            <a:off x="533400" y="1841500"/>
            <a:ext cx="63500" cy="1587500"/>
          </a:xfrm>
          <a:prstGeom prst="rect">
            <a:avLst/>
          </a:prstGeom>
          <a:solidFill>
            <a:srgbClr val="9D5B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7223DB-11D0-3F89-6A74-A47F3D2FD5D4}"/>
              </a:ext>
            </a:extLst>
          </p:cNvPr>
          <p:cNvSpPr txBox="1"/>
          <p:nvPr/>
        </p:nvSpPr>
        <p:spPr>
          <a:xfrm>
            <a:off x="762000" y="20193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 b="1">
                <a:solidFill>
                  <a:srgbClr val="1F2937"/>
                </a:solidFill>
                <a:latin typeface="Aptos" panose="020B0004020202020204" pitchFamily="34" charset="0"/>
              </a:rPr>
              <a:t>레거시 업무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3A7118-6765-3236-0968-A6219DD5CF86}"/>
              </a:ext>
            </a:extLst>
          </p:cNvPr>
          <p:cNvSpPr txBox="1"/>
          <p:nvPr/>
        </p:nvSpPr>
        <p:spPr>
          <a:xfrm>
            <a:off x="762000" y="2413000"/>
            <a:ext cx="342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ERP 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파일서버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COM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응용프로그램 연결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82849BC-A0FB-21CE-9233-8ADE28AF5633}"/>
              </a:ext>
            </a:extLst>
          </p:cNvPr>
          <p:cNvSpPr/>
          <p:nvPr/>
        </p:nvSpPr>
        <p:spPr>
          <a:xfrm>
            <a:off x="4800600" y="1841500"/>
            <a:ext cx="3810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7E10E2-C50D-0367-FA63-E94D5B77C9B5}"/>
              </a:ext>
            </a:extLst>
          </p:cNvPr>
          <p:cNvSpPr/>
          <p:nvPr/>
        </p:nvSpPr>
        <p:spPr>
          <a:xfrm>
            <a:off x="4800600" y="1841500"/>
            <a:ext cx="63500" cy="15875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1BF11B-1A9C-111D-C1E9-4151A159CED0}"/>
              </a:ext>
            </a:extLst>
          </p:cNvPr>
          <p:cNvSpPr txBox="1"/>
          <p:nvPr/>
        </p:nvSpPr>
        <p:spPr>
          <a:xfrm>
            <a:off x="5029200" y="20193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 b="1">
                <a:solidFill>
                  <a:srgbClr val="1F2937"/>
                </a:solidFill>
                <a:latin typeface="Aptos" panose="020B0004020202020204" pitchFamily="34" charset="0"/>
              </a:rPr>
              <a:t>보고서 자동화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8CFCBC-D541-C20D-921F-367BDF0BDC69}"/>
              </a:ext>
            </a:extLst>
          </p:cNvPr>
          <p:cNvSpPr txBox="1"/>
          <p:nvPr/>
        </p:nvSpPr>
        <p:spPr>
          <a:xfrm>
            <a:off x="5029200" y="2413000"/>
            <a:ext cx="342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API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수집 →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DB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저장 →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Excel / PowerPoint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생성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D15B03F-3384-BF6D-EEAA-FE31301C7B5A}"/>
              </a:ext>
            </a:extLst>
          </p:cNvPr>
          <p:cNvSpPr/>
          <p:nvPr/>
        </p:nvSpPr>
        <p:spPr>
          <a:xfrm>
            <a:off x="533400" y="3873500"/>
            <a:ext cx="3810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AC425C6-060F-C385-921D-457ADDCA1B28}"/>
              </a:ext>
            </a:extLst>
          </p:cNvPr>
          <p:cNvSpPr/>
          <p:nvPr/>
        </p:nvSpPr>
        <p:spPr>
          <a:xfrm>
            <a:off x="533400" y="3873500"/>
            <a:ext cx="63500" cy="15875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20FB15-6DE9-DF77-B865-3F6F3B34DDB2}"/>
              </a:ext>
            </a:extLst>
          </p:cNvPr>
          <p:cNvSpPr txBox="1"/>
          <p:nvPr/>
        </p:nvSpPr>
        <p:spPr>
          <a:xfrm>
            <a:off x="762000" y="40513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 b="1">
                <a:solidFill>
                  <a:srgbClr val="1F2937"/>
                </a:solidFill>
                <a:latin typeface="Aptos" panose="020B0004020202020204" pitchFamily="34" charset="0"/>
              </a:rPr>
              <a:t>보안 운영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3F6D9B-8D98-949F-6B17-822E74309238}"/>
              </a:ext>
            </a:extLst>
          </p:cNvPr>
          <p:cNvSpPr txBox="1"/>
          <p:nvPr/>
        </p:nvSpPr>
        <p:spPr>
          <a:xfrm>
            <a:off x="762000" y="4445000"/>
            <a:ext cx="342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프로세스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네트워크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파일 점검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1B14726-2064-97B5-E70C-DAED317F724C}"/>
              </a:ext>
            </a:extLst>
          </p:cNvPr>
          <p:cNvSpPr/>
          <p:nvPr/>
        </p:nvSpPr>
        <p:spPr>
          <a:xfrm>
            <a:off x="4800600" y="3873500"/>
            <a:ext cx="3810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A0A39C5-446B-BC91-E49F-B2E593A60C0B}"/>
              </a:ext>
            </a:extLst>
          </p:cNvPr>
          <p:cNvSpPr/>
          <p:nvPr/>
        </p:nvSpPr>
        <p:spPr>
          <a:xfrm>
            <a:off x="4800600" y="3873500"/>
            <a:ext cx="63500" cy="1587500"/>
          </a:xfrm>
          <a:prstGeom prst="rect">
            <a:avLst/>
          </a:prstGeom>
          <a:solidFill>
            <a:srgbClr val="4B6F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548ABF-4AB4-6A18-5DF9-1E0E021740B1}"/>
              </a:ext>
            </a:extLst>
          </p:cNvPr>
          <p:cNvSpPr txBox="1"/>
          <p:nvPr/>
        </p:nvSpPr>
        <p:spPr>
          <a:xfrm>
            <a:off x="5029200" y="4051300"/>
            <a:ext cx="342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 b="1">
                <a:solidFill>
                  <a:srgbClr val="1F2937"/>
                </a:solidFill>
                <a:latin typeface="Aptos" panose="020B0004020202020204" pitchFamily="34" charset="0"/>
              </a:rPr>
              <a:t>AI </a:t>
            </a:r>
            <a:r>
              <a:rPr lang="ko-KR" altLang="en-US" sz="1600" b="1">
                <a:solidFill>
                  <a:srgbClr val="1F2937"/>
                </a:solidFill>
                <a:latin typeface="Aptos" panose="020B0004020202020204" pitchFamily="34" charset="0"/>
              </a:rPr>
              <a:t>연결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5080C7-F94E-12DB-082A-CB4DB38AC7D1}"/>
              </a:ext>
            </a:extLst>
          </p:cNvPr>
          <p:cNvSpPr txBox="1"/>
          <p:nvPr/>
        </p:nvSpPr>
        <p:spPr>
          <a:xfrm>
            <a:off x="5029200" y="4445000"/>
            <a:ext cx="342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분류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요약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질의 </a:t>
            </a:r>
            <a:r>
              <a:rPr lang="en-US" altLang="ko-KR" sz="1200">
                <a:solidFill>
                  <a:srgbClr val="1F2937"/>
                </a:solidFill>
                <a:latin typeface="Aptos" panose="020B0004020202020204" pitchFamily="34" charset="0"/>
              </a:rPr>
              <a:t>/ </a:t>
            </a:r>
            <a:r>
              <a:rPr lang="ko-KR" altLang="en-US" sz="1200">
                <a:solidFill>
                  <a:srgbClr val="1F2937"/>
                </a:solidFill>
                <a:latin typeface="Aptos" panose="020B0004020202020204" pitchFamily="34" charset="0"/>
              </a:rPr>
              <a:t>문서 생성</a:t>
            </a:r>
          </a:p>
        </p:txBody>
      </p:sp>
    </p:spTree>
    <p:extLst>
      <p:ext uri="{BB962C8B-B14F-4D97-AF65-F5344CB8AC3E}">
        <p14:creationId xmlns:p14="http://schemas.microsoft.com/office/powerpoint/2010/main" val="3901459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06C48F-6E56-2C94-0396-85C27DF2D0A0}"/>
              </a:ext>
            </a:extLst>
          </p:cNvPr>
          <p:cNvSpPr txBox="1"/>
          <p:nvPr/>
        </p:nvSpPr>
        <p:spPr>
          <a:xfrm>
            <a:off x="660400" y="1270000"/>
            <a:ext cx="7366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마무리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F5E3C3-5145-6D59-FB25-FDEA3055CA28}"/>
              </a:ext>
            </a:extLst>
          </p:cNvPr>
          <p:cNvSpPr txBox="1"/>
          <p:nvPr/>
        </p:nvSpPr>
        <p:spPr>
          <a:xfrm>
            <a:off x="660400" y="2413000"/>
            <a:ext cx="7620000" cy="67710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900">
                <a:solidFill>
                  <a:srgbClr val="FFFFFF"/>
                </a:solidFill>
                <a:latin typeface="Aptos" panose="020B0004020202020204" pitchFamily="34" charset="0"/>
              </a:rPr>
              <a:t>WelsonJS</a:t>
            </a:r>
            <a:r>
              <a:rPr lang="ko-KR" altLang="en-US" sz="1900">
                <a:solidFill>
                  <a:srgbClr val="FFFFFF"/>
                </a:solidFill>
                <a:latin typeface="Aptos" panose="020B0004020202020204" pitchFamily="34" charset="0"/>
              </a:rPr>
              <a:t>는 </a:t>
            </a:r>
            <a:r>
              <a:rPr lang="en-US" altLang="ko-KR" sz="1900">
                <a:solidFill>
                  <a:srgbClr val="FFFFFF"/>
                </a:solidFill>
                <a:latin typeface="Aptos" panose="020B0004020202020204" pitchFamily="34" charset="0"/>
              </a:rPr>
              <a:t>Windows </a:t>
            </a:r>
            <a:r>
              <a:rPr lang="ko-KR" altLang="en-US" sz="1900">
                <a:solidFill>
                  <a:srgbClr val="FFFFFF"/>
                </a:solidFill>
                <a:latin typeface="Aptos" panose="020B0004020202020204" pitchFamily="34" charset="0"/>
              </a:rPr>
              <a:t>운영체제와 업무 응용을 하나의 </a:t>
            </a:r>
            <a:r>
              <a:rPr lang="en-US" altLang="ko-KR" sz="1900">
                <a:solidFill>
                  <a:srgbClr val="FFFFFF"/>
                </a:solidFill>
                <a:latin typeface="Aptos" panose="020B0004020202020204" pitchFamily="34" charset="0"/>
              </a:rPr>
              <a:t>JavaScript</a:t>
            </a:r>
            <a:r>
              <a:rPr lang="ko-KR" altLang="en-US" sz="1900">
                <a:solidFill>
                  <a:srgbClr val="FFFFFF"/>
                </a:solidFill>
                <a:latin typeface="Aptos" panose="020B0004020202020204" pitchFamily="34" charset="0"/>
              </a:rPr>
              <a:t>로 연결합니다</a:t>
            </a:r>
            <a:r>
              <a:rPr lang="en-US" altLang="ko-KR" sz="1900">
                <a:solidFill>
                  <a:srgbClr val="FFFFFF"/>
                </a:solidFill>
                <a:latin typeface="Aptos" panose="020B0004020202020204" pitchFamily="34" charset="0"/>
              </a:rPr>
              <a:t>.</a:t>
            </a:r>
            <a:endParaRPr lang="ko-KR" altLang="en-US" sz="19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1F4553-C3F1-E33A-98F6-FB2DEA4A907F}"/>
              </a:ext>
            </a:extLst>
          </p:cNvPr>
          <p:cNvSpPr txBox="1"/>
          <p:nvPr/>
        </p:nvSpPr>
        <p:spPr>
          <a:xfrm>
            <a:off x="660400" y="3810000"/>
            <a:ext cx="228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400" b="1">
                <a:solidFill>
                  <a:srgbClr val="4B6F6B"/>
                </a:solidFill>
                <a:latin typeface="Aptos" panose="020B0004020202020204" pitchFamily="34" charset="0"/>
              </a:rPr>
              <a:t>시작 순서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4207EB-4B9D-DC22-1CEA-8B532F33BD19}"/>
              </a:ext>
            </a:extLst>
          </p:cNvPr>
          <p:cNvSpPr txBox="1"/>
          <p:nvPr/>
        </p:nvSpPr>
        <p:spPr>
          <a:xfrm>
            <a:off x="660400" y="4318000"/>
            <a:ext cx="762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>
                <a:solidFill>
                  <a:srgbClr val="FFFFFF"/>
                </a:solidFill>
                <a:latin typeface="Aptos" panose="020B0004020202020204" pitchFamily="34" charset="0"/>
              </a:rPr>
              <a:t>대상 업무 선정 → 모듈 선택 → 테스트 → 배포</a:t>
            </a:r>
          </a:p>
        </p:txBody>
      </p:sp>
    </p:spTree>
    <p:extLst>
      <p:ext uri="{BB962C8B-B14F-4D97-AF65-F5344CB8AC3E}">
        <p14:creationId xmlns:p14="http://schemas.microsoft.com/office/powerpoint/2010/main" val="2022585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442</Words>
  <Application>Microsoft Office PowerPoint</Application>
  <PresentationFormat>와이드스크린</PresentationFormat>
  <Paragraphs>104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Namhyeon Go</dc:creator>
  <cp:lastModifiedBy>Namhyeon Go</cp:lastModifiedBy>
  <cp:revision>10</cp:revision>
  <dcterms:created xsi:type="dcterms:W3CDTF">2026-10-27T01:22:14Z</dcterms:created>
  <dcterms:modified xsi:type="dcterms:W3CDTF">2026-10-27T01:23:47Z</dcterms:modified>
</cp:coreProperties>
</file>